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6" r:id="rId26"/>
    <p:sldId id="277" r:id="rId27"/>
    <p:sldId id="260" r:id="rId5"/>
    <p:sldId id="264" r:id="rId6"/>
    <p:sldId id="269" r:id="rId7"/>
    <p:sldId id="262" r:id="rId8"/>
    <p:sldId id="263" r:id="rId9"/>
    <p:sldId id="259" r:id="rId10"/>
    <p:sldId id="261" r:id="rId11"/>
    <p:sldId id="268" r:id="rId12"/>
    <p:sldId id="271" r:id="rId13"/>
    <p:sldId id="272" r:id="rId14"/>
    <p:sldId id="270" r:id="rId15"/>
    <p:sldId id="265" r:id="rId16"/>
    <p:sldId id="266" r:id="rId17"/>
    <p:sldId id="267" r:id="rId18"/>
    <p:sldId id="274" r:id="rId19"/>
    <p:sldId id="275" r:id="rId20"/>
    <p:sldId id="273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65" d="100"/>
          <a:sy n="165" d="100"/>
        </p:scale>
        <p:origin x="100" y="42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4.xml"/><Relationship Id="rId27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AZURE AI FOUNDRY · LAYERED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10058400" cy="21945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8AB9E8"/>
                </a:solidFill>
                <a:latin typeface="Segoe UI"/>
              </a:rPr>
              <a:t>vs.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601200" cy="9144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How the two layers protect the Gislefoss Meteorologist agent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and why a shield is one detector </a:t>
            </a:r>
            <a:r>
              <a:rPr sz="1800" b="1">
                <a:solidFill>
                  <a:srgbClr val="FFFFFF"/>
                </a:solidFill>
                <a:latin typeface="Segoe UI"/>
              </a:rPr>
              <a:t>inside</a:t>
            </a:r>
            <a:r>
              <a:rPr sz="1800" b="0">
                <a:solidFill>
                  <a:srgbClr val="C7D6EA"/>
                </a:solidFill>
                <a:latin typeface="Segoe UI"/>
              </a:rPr>
              <a:t> the guardrail, not a sibling of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>
                <a:solidFill>
                  <a:srgbClr val="0078D4"/>
                </a:solidFill>
                <a:latin typeface="Consolas"/>
              </a:rPr>
              <a:t>aif-gislefoss-prod</a:t>
            </a:r>
            <a:r>
              <a:rPr sz="1500" b="0">
                <a:solidFill>
                  <a:srgbClr val="605E5C"/>
                </a:solidFill>
                <a:latin typeface="Segoe UI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aif-gislefoss-prod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proj-gislefoss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oai-gislefoss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srch-gislefoss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cs-gislefoss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hub-gislefoss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…-caphost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IDENTITY &amp; ACCESS · LEAST PRIVILEGE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Foundry RBAC — roles &amp;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Assign at the </a:t>
            </a:r>
            <a:r>
              <a:rPr sz="1500" b="1">
                <a:solidFill>
                  <a:srgbClr val="243A5E"/>
                </a:solidFill>
                <a:latin typeface="Segoe UI"/>
              </a:rPr>
              <a:t>Foundry resource scope</a:t>
            </a:r>
            <a:r>
              <a:rPr sz="1500" b="0">
                <a:solidFill>
                  <a:srgbClr val="605E5C"/>
                </a:solidFill>
                <a:latin typeface="Segoe UI"/>
              </a:rPr>
              <a:t>.  Separate the identity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authors</a:t>
            </a:r>
            <a:r>
              <a:rPr sz="1500" b="0">
                <a:solidFill>
                  <a:srgbClr val="605E5C"/>
                </a:solidFill>
                <a:latin typeface="Segoe UI"/>
              </a:rPr>
              <a:t> the agent from the one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runs</a:t>
            </a:r>
            <a:r>
              <a:rPr sz="1500" b="0">
                <a:solidFill>
                  <a:srgbClr val="605E5C"/>
                </a:solidFill>
                <a:latin typeface="Segoe UI"/>
              </a:rPr>
              <a:t>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11680"/>
          <a:ext cx="106070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grants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Inference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Create / manage</a:t>
                      </a:r>
                    </a:p>
                  </a:txBody>
                  <a:tcPr marL="109728" marR="54864" marT="18288" marB="18288" anchor="ctr">
                    <a:solidFill>
                      <a:srgbClr val="243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Least-privilege build &amp; use (data actions)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projects + publish agents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Projects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account, deploy models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Full self-serve — build + manage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marL="109728" marR="54864" marT="18288" marB="18288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4498848"/>
            <a:ext cx="10607040" cy="1810512"/>
          </a:xfrm>
          <a:prstGeom prst="roundRect">
            <a:avLst>
              <a:gd name="adj" fmla="val 4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572000"/>
            <a:ext cx="10149840" cy="16642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Gislefoss split RBAC — author ≠ runtime: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Provisioner identity (UAMI) authors &amp; publishes the agent  →  </a:t>
            </a:r>
            <a:r>
              <a:rPr sz="1300" b="1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sz="1300" b="1">
                <a:solidFill>
                  <a:srgbClr val="0078D4"/>
                </a:solidFill>
                <a:latin typeface="Segoe UI"/>
              </a:rPr>
              <a:t>Foundry User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5292A"/>
                </a:solidFill>
                <a:latin typeface="Segoe UI"/>
              </a:rPr>
              <a:t>⚠  Bicep today grants Azure AI Developer + Cognitive Services User — Microsoft now scopes those away from Foundry agents; migrate to the roles above.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05E5C"/>
                </a:solidFill>
                <a:latin typeface="Consolas"/>
              </a:rPr>
              <a:t>Role IDs:  Foundry Project Manager eadc314b-1a2d-4efa-be10-5d325db5065e  ·  Foundry User 53ca6127-db72-4b80-b1b0-d745d6d5456d.  Renamed Jun 2026 (ex Azure AI Project Manager / Azure AI User).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MODEL DEPLOYMENT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Where your inferencing data is processed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Deployment type — not region — decides which datacentres may run your inference.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74920" cy="2880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GLOBAL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GlobalStandard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Any eligible Azure region, worldwide.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Highest default quota; broadest model choice.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Receives new models &amp; features first.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Inference may run in any Azure region, globally.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156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EECF9"/>
          </a:solidFill>
          <a:ln w="1016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0078D4"/>
                </a:solidFill>
                <a:latin typeface="Segoe UI"/>
              </a:rPr>
              <a:t>✓  Gislefoss uses this today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313432"/>
            <a:ext cx="4526280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DATA ZONE STANDARD</a:t>
            </a:r>
            <a:r>
              <a:rPr sz="1200" b="0">
                <a:solidFill>
                  <a:srgbClr val="605E5C"/>
                </a:solidFill>
                <a:latin typeface="Consolas"/>
              </a:rPr>
              <a:t>   ·  DataZoneStandard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779776"/>
            <a:ext cx="452628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1">
                <a:solidFill>
                  <a:srgbClr val="243A5E"/>
                </a:solidFill>
                <a:latin typeface="Segoe UI"/>
              </a:rPr>
              <a:t>Within a chosen data zone — US or EU.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310128"/>
            <a:ext cx="4572000" cy="1188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Processing stays inside the zone boundary.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EU zone = EU Data Boundary (Sweden, Norway…).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›  </a:t>
            </a:r>
            <a:r>
              <a:rPr sz="1300" b="0">
                <a:solidFill>
                  <a:srgbClr val="605E5C"/>
                </a:solidFill>
                <a:latin typeface="Segoe UI"/>
              </a:rPr>
              <a:t>Higher quota than single-region Standard.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0" y="4553712"/>
            <a:ext cx="4526280" cy="384048"/>
          </a:xfrm>
          <a:prstGeom prst="roundRect">
            <a:avLst>
              <a:gd name="adj" fmla="val 30000"/>
            </a:avLst>
          </a:prstGeom>
          <a:solidFill>
            <a:srgbClr val="DFF6DD"/>
          </a:solidFill>
          <a:ln w="1016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4581144"/>
            <a:ext cx="452628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07C10"/>
                </a:solidFill>
                <a:latin typeface="Segoe UI"/>
              </a:rPr>
              <a:t>→  Pick this for EU data residency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239512"/>
            <a:ext cx="10607040" cy="868680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294375"/>
            <a:ext cx="10058400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Data at rest always stays in your Azure geography </a:t>
            </a:r>
            <a:r>
              <a:rPr sz="1350" b="0">
                <a:solidFill>
                  <a:srgbClr val="C7D6EA"/>
                </a:solidFill>
                <a:latin typeface="Segoe UI"/>
              </a:rPr>
              <a:t>— only the processing location changes.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C7D6EA"/>
                </a:solidFill>
                <a:latin typeface="Segoe UI"/>
              </a:rPr>
              <a:t>Gislefoss runs gpt-4o as </a:t>
            </a:r>
            <a:r>
              <a:rPr sz="1200" b="1">
                <a:solidFill>
                  <a:srgbClr val="FFFFFF"/>
                </a:solidFill>
                <a:latin typeface="Consolas"/>
              </a:rPr>
              <a:t>GlobalStandard</a:t>
            </a:r>
            <a:r>
              <a:rPr sz="1200" b="0">
                <a:solidFill>
                  <a:srgbClr val="C7D6EA"/>
                </a:solidFill>
                <a:latin typeface="Segoe UI"/>
              </a:rPr>
              <a:t> from Sweden Central — an EU-boundary region — yet inference can still leave the EU.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Consolas"/>
              </a:rPr>
              <a:t>personas/gislefoss.md</a:t>
            </a:r>
            <a:r>
              <a:rPr sz="1500" b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646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attached to a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model deployment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In Azure terms it is a </a:t>
            </a:r>
            <a:r>
              <a:rPr lang="nb-NO" sz="1500" b="1" dirty="0">
                <a:solidFill>
                  <a:srgbClr val="605E5C"/>
                </a:solidFill>
                <a:latin typeface="Segoe UI"/>
              </a:rPr>
              <a:t>RAI-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Policies resource; "</a:t>
            </a:r>
            <a:r>
              <a:rPr sz="1500" b="1" i="1" dirty="0">
                <a:solidFill>
                  <a:srgbClr val="605E5C"/>
                </a:solidFill>
                <a:latin typeface="Segoe UI"/>
              </a:rPr>
              <a:t>guardrail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 dirty="0" err="1">
                <a:solidFill>
                  <a:srgbClr val="201F1E"/>
                </a:solidFill>
                <a:latin typeface="Segoe UI"/>
              </a:rPr>
              <a:t>raiPolicyName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9728" marR="73152" marT="36576" marB="36576" anchor="ctr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marL="109728" marR="73152" marT="36576" marB="36576" anchor="ctr">
                    <a:solidFill>
                      <a:srgbClr val="5C2D9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marL="109728" marR="73152" marT="36576" marB="36576" anchor="ctr">
                    <a:solidFill>
                      <a:srgbClr val="107C1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marL="109728" marR="73152" marT="36576" marB="36576" anchor="ctr">
                    <a:solidFill>
                      <a:srgbClr val="F3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marL="109728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512961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dirty="0">
                <a:solidFill>
                  <a:srgbClr val="243A5E"/>
                </a:solidFill>
                <a:latin typeface="Segoe UI"/>
              </a:rPr>
              <a:t>Why the </a:t>
            </a:r>
            <a:r>
              <a:rPr lang="nb-NO" sz="3000" b="1" dirty="0">
                <a:solidFill>
                  <a:srgbClr val="243A5E"/>
                </a:solidFill>
                <a:latin typeface="Segoe UI"/>
              </a:rPr>
              <a:t>an agent</a:t>
            </a:r>
            <a:r>
              <a:rPr sz="3000" b="1" dirty="0">
                <a:solidFill>
                  <a:srgbClr val="243A5E"/>
                </a:solidFill>
                <a:latin typeface="Segoe UI"/>
              </a:rPr>
              <a:t>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237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answer ONLY </a:t>
            </a:r>
            <a:r>
              <a:rPr lang="nb-NO" sz="1700" b="0" dirty="0" err="1">
                <a:solidFill>
                  <a:srgbClr val="201F1E"/>
                </a:solidFill>
                <a:latin typeface="Segoe UI"/>
              </a:rPr>
              <a:t>targeted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 dirty="0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 dirty="0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 dirty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 dirty="0">
                <a:solidFill>
                  <a:srgbClr val="605E5C"/>
                </a:solidFill>
                <a:latin typeface="Segoe UI"/>
              </a:rPr>
              <a:t>–  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App code (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RunOutcomeInspector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, </a:t>
            </a:r>
            <a:r>
              <a:rPr sz="1500" dirty="0" err="1">
                <a:solidFill>
                  <a:srgbClr val="605E5C"/>
                </a:solidFill>
                <a:latin typeface="Segoe UI"/>
              </a:rPr>
              <a:t>AgentReply</a:t>
            </a:r>
            <a:r>
              <a:rPr sz="1500" dirty="0">
                <a:solidFill>
                  <a:srgbClr val="605E5C"/>
                </a:solidFill>
                <a:latin typeface="Segoe UI"/>
              </a:rPr>
              <a:t>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Caveats &amp; deploy-verify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 names are unverified: </a:t>
            </a:r>
            <a:r>
              <a:rPr sz="1700" b="0">
                <a:solidFill>
                  <a:srgbClr val="201F1E"/>
                </a:solidFill>
                <a:latin typeface="Segoe UI"/>
              </a:rPr>
              <a:t>'Jailbreak' and 'Indirect Attack' carry // [verify name] markers.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Confirm the exact RAI filter strings against the live API on first real deploy.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Guardrail is attached, not optional: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rides on the chat deployment via raiPolicyName.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Shields are input-side: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they won't catch a harmful COMPLETION — that's the harm filters' job.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Defence in depth: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 persona/system prompt is a third layer above both — not a substitute.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64592" rIns="137160" bIns="13716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guardrail '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Microsoft.CognitiveServices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name: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guardrailName</a:t>
            </a:r>
            <a:endParaRPr sz="125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basePolicyName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250" dirty="0" err="1">
                <a:solidFill>
                  <a:srgbClr val="D4D4D4"/>
                </a:solidFill>
                <a:latin typeface="Consolas"/>
              </a:rPr>
              <a:t>contentFilters</a:t>
            </a:r>
            <a:r>
              <a:rPr sz="1250" dirty="0">
                <a:solidFill>
                  <a:srgbClr val="D4D4D4"/>
                </a:solidFill>
                <a:latin typeface="Consolas"/>
              </a:rPr>
              <a:t>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dirty="0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9CDCFE"/>
                </a:solidFill>
                <a:latin typeface="Consolas"/>
              </a:rPr>
              <a:t>  properties: { </a:t>
            </a:r>
            <a:r>
              <a:rPr sz="1250" dirty="0" err="1">
                <a:solidFill>
                  <a:srgbClr val="9CDCFE"/>
                </a:solidFill>
                <a:latin typeface="Consolas"/>
              </a:rPr>
              <a:t>raiPolicyName</a:t>
            </a:r>
            <a:r>
              <a:rPr sz="1250" dirty="0">
                <a:solidFill>
                  <a:srgbClr val="9CDCFE"/>
                </a:solidFill>
                <a:latin typeface="Consolas"/>
              </a:rPr>
              <a:t>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DESIGN DECISION · ATTACK SURFACE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memory would weaken the security posture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Every Gislefoss layer minimizes what an attacker can influence.  </a:t>
            </a:r>
            <a:r>
              <a:rPr sz="1600" b="1">
                <a:solidFill>
                  <a:srgbClr val="243A5E"/>
                </a:solidFill>
                <a:latin typeface="Segoe UI"/>
              </a:rPr>
              <a:t>Long-term memory does the reverse.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THE DESIGN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Minimize attacker influence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Persona in git · Prompt Shields · Guardrails · decline-everything-non-weather. Each layer shrinks what a user turn can change.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76272"/>
            <a:ext cx="5120640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10528" y="2340864"/>
            <a:ext cx="4617720" cy="12801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243A5E"/>
                </a:solidFill>
                <a:latin typeface="Segoe UI"/>
              </a:rPr>
              <a:t>The opposite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605E5C"/>
                </a:solidFill>
                <a:latin typeface="Segoe UI"/>
              </a:rPr>
              <a:t>A writable, persistent store the LLM fills from user input — re-opening exactly what the other layers work to close.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822191"/>
            <a:ext cx="10607040" cy="1024128"/>
          </a:xfrm>
          <a:prstGeom prst="roundRect">
            <a:avLst>
              <a:gd name="adj" fmla="val 4000"/>
            </a:avLst>
          </a:prstGeom>
          <a:solidFill>
            <a:srgbClr val="FDE7E9"/>
          </a:solidFill>
          <a:ln w="12700">
            <a:solidFill>
              <a:srgbClr val="F1B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77240" y="3822191"/>
            <a:ext cx="109728" cy="1024128"/>
          </a:xfrm>
          <a:prstGeom prst="rect">
            <a:avLst/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3822191"/>
            <a:ext cx="10058400" cy="1024128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0">
                <a:solidFill>
                  <a:srgbClr val="201F1E"/>
                </a:solidFill>
                <a:latin typeface="Segoe UI"/>
              </a:rPr>
              <a:t>“Protect memory against threats such as prompt injection and memory corruption — incorrect or harmful data stored in the agent’s memory, potentially influencing agent responses.”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605E5C"/>
                </a:solidFill>
                <a:latin typeface="Segoe UI"/>
              </a:rPr>
              <a:t>— Microsoft Foundry docs, “What is Memory?”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992624"/>
            <a:ext cx="10607040" cy="1152144"/>
          </a:xfrm>
          <a:prstGeom prst="roundRect">
            <a:avLst>
              <a:gd name="adj" fmla="val 4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992624"/>
            <a:ext cx="10058400" cy="1152144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A poisoned memory is a </a:t>
            </a:r>
            <a:r>
              <a:rPr sz="1900" b="1">
                <a:solidFill>
                  <a:srgbClr val="FF9A9C"/>
                </a:solidFill>
                <a:latin typeface="Segoe UI"/>
              </a:rPr>
              <a:t>persistent injection</a:t>
            </a:r>
            <a:r>
              <a:rPr sz="1900" b="1">
                <a:solidFill>
                  <a:srgbClr val="FFFFFF"/>
                </a:solidFill>
                <a:latin typeface="Segoe UI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7D6EA"/>
                </a:solidFill>
                <a:latin typeface="Segoe UI"/>
              </a:rPr>
              <a:t>It survives across sessions and re-enters the prompt every turn — turning a one-shot attack into a durable one. The one component an injection-hardened agent should not add.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DEFENCE IN DEPTH · MEMORY PATHWAY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Shield on memory I/O — the protection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The same Prompt Shields detector, called as a </a:t>
            </a:r>
            <a:r>
              <a:rPr sz="1500" b="1">
                <a:solidFill>
                  <a:srgbClr val="243A5E"/>
                </a:solidFill>
                <a:latin typeface="Segoe UI"/>
              </a:rPr>
              <a:t>standalone API</a:t>
            </a:r>
            <a:r>
              <a:rPr sz="1500" b="0">
                <a:solidFill>
                  <a:srgbClr val="605E5C"/>
                </a:solidFill>
                <a:latin typeface="Segoe UI"/>
              </a:rPr>
              <a:t> on the text moving in and out of the memory store.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243A5E"/>
                </a:solidFill>
                <a:latin typeface="Segoe UI"/>
              </a:rPr>
              <a:t>USER MESSAGE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the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0088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write ·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456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11496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243A5E"/>
          </a:solidFill>
          <a:ln w="22225">
            <a:solidFill>
              <a:srgbClr val="24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11496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MEMORY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32904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DFF6DD"/>
          </a:solidFill>
          <a:ln w="2222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32904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read · retrieval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34272" y="2432304"/>
            <a:ext cx="310896" cy="4114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54312" y="2121408"/>
            <a:ext cx="1755648" cy="103327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354312" y="2121408"/>
            <a:ext cx="1755648" cy="1033271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0078D4"/>
                </a:solidFill>
                <a:latin typeface="Segoe UI"/>
              </a:rPr>
              <a:t>CHAT PROMPT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05E5C"/>
                </a:solidFill>
                <a:latin typeface="Segoe UI"/>
              </a:rPr>
              <a:t>model input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106070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Two checkpoints the attached guardrail can't reach on its own — before a memory is stored, and after it's retrieved.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639312"/>
            <a:ext cx="512064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THE CALL — Content Safety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639312"/>
            <a:ext cx="5212080" cy="292608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READING THE VERDICT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3950208"/>
            <a:ext cx="5120640" cy="2157984"/>
          </a:xfrm>
          <a:prstGeom prst="roundRect">
            <a:avLst>
              <a:gd name="adj" fmla="val 3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01168" tIns="146304" rIns="109728" bIns="109728" rtlCol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POST  …/text:shieldPrompt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"userPrompt": "…",         // write: new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"documents":  ["memory…"]  // read: retrieved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→  { "attackDetected": true | false 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drop on write  ·  strip on read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3950208"/>
            <a:ext cx="5212080" cy="215798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Same engine as your attached guardrail — here as a callable API.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One boolean to act on:  </a:t>
            </a:r>
            <a:r>
              <a:rPr sz="1250" b="0">
                <a:solidFill>
                  <a:srgbClr val="0078D4"/>
                </a:solidFill>
                <a:latin typeface="Consolas"/>
              </a:rPr>
              <a:t>attackDetected</a:t>
            </a:r>
            <a:r>
              <a:rPr sz="1250" b="0">
                <a:solidFill>
                  <a:srgbClr val="201F1E"/>
                </a:solidFill>
                <a:latin typeface="Segoe UI"/>
              </a:rPr>
              <a:t>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Write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a candidate memory; drop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</a:t>
            </a:r>
            <a:r>
              <a:rPr sz="1250" b="1">
                <a:solidFill>
                  <a:srgbClr val="107C10"/>
                </a:solidFill>
                <a:latin typeface="Segoe UI"/>
              </a:rPr>
              <a:t>Read</a:t>
            </a:r>
            <a:r>
              <a:rPr sz="1250" b="0">
                <a:solidFill>
                  <a:srgbClr val="201F1E"/>
                </a:solidFill>
                <a:latin typeface="Segoe UI"/>
              </a:rPr>
              <a:t> — screen retrieved items as </a:t>
            </a:r>
            <a:r>
              <a:rPr sz="1250" b="0">
                <a:solidFill>
                  <a:srgbClr val="0078D4"/>
                </a:solidFill>
                <a:latin typeface="Consolas"/>
              </a:rPr>
              <a:t>documents[]</a:t>
            </a:r>
            <a:r>
              <a:rPr sz="1250" b="0">
                <a:solidFill>
                  <a:srgbClr val="201F1E"/>
                </a:solidFill>
                <a:latin typeface="Segoe UI"/>
              </a:rPr>
              <a:t> (indirect attack); strip if true.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201F1E"/>
                </a:solidFill>
                <a:latin typeface="Segoe UI"/>
              </a:rPr>
              <a:t>•  Verdict and enforcement are yours — Content Safety only detects.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WHERE THE SHIELD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Memory I/O: inside vs. outside the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Same control, two homes — decided by </a:t>
            </a:r>
            <a:r>
              <a:rPr sz="1500" b="1">
                <a:solidFill>
                  <a:srgbClr val="243A5E"/>
                </a:solidFill>
                <a:latin typeface="Segoe UI"/>
              </a:rPr>
              <a:t>how the agent uses memory.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4572000" cy="2211824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5C2D91"/>
                </a:solidFill>
                <a:latin typeface="Segoe UI"/>
              </a:rPr>
              <a:t>INSIDE THE </a:t>
            </a:r>
            <a:r>
              <a:rPr lang="en-US" sz="1400" b="1" dirty="0">
                <a:solidFill>
                  <a:srgbClr val="5C2D91"/>
                </a:solidFill>
                <a:latin typeface="Segoe UI"/>
              </a:rPr>
              <a:t>FOUNDRY</a:t>
            </a:r>
            <a:endParaRPr sz="1400" b="1" dirty="0">
              <a:solidFill>
                <a:srgbClr val="5C2D91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Memory search tool · server-side, managed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Foundry-managed loop — you never see the items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5C2D91"/>
                </a:solidFill>
                <a:latin typeface="Segoe UI"/>
              </a:rPr>
              <a:t>RAI policy on the memory chat model — Bicep / platform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t 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C5292A"/>
                </a:solidFill>
                <a:latin typeface="Segoe UI"/>
              </a:rPr>
              <a:t>not </a:t>
            </a:r>
            <a:r>
              <a:rPr lang="en-US" sz="1200" b="0" dirty="0">
                <a:solidFill>
                  <a:srgbClr val="C5292A"/>
                </a:solidFill>
                <a:latin typeface="Segoe UI"/>
              </a:rPr>
              <a:t>applicable</a:t>
            </a:r>
            <a:endParaRPr sz="1200" b="0" dirty="0">
              <a:solidFill>
                <a:srgbClr val="C5292A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You rely on: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the attached guardrail +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1821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286000"/>
            <a:ext cx="4572000" cy="201241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dirty="0">
                <a:solidFill>
                  <a:srgbClr val="107C10"/>
                </a:solidFill>
                <a:latin typeface="Segoe UI"/>
              </a:rPr>
              <a:t>OUTSIDE THE </a:t>
            </a:r>
            <a:r>
              <a:rPr lang="en-US" sz="1400" b="1" dirty="0">
                <a:solidFill>
                  <a:srgbClr val="107C10"/>
                </a:solidFill>
                <a:latin typeface="Segoe UI"/>
              </a:rPr>
              <a:t>FOUNDRY</a:t>
            </a:r>
            <a:endParaRPr sz="1400" b="1" dirty="0">
              <a:solidFill>
                <a:srgbClr val="107C10"/>
              </a:solidFill>
              <a:latin typeface="Segoe UI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dirty="0">
                <a:solidFill>
                  <a:srgbClr val="243A5E"/>
                </a:solidFill>
                <a:latin typeface="Segoe UI"/>
              </a:rPr>
              <a:t>Low-level memory APIs · app-orchestrated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Runs in: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your Web container (the Container App)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Shield lives in: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explicit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shieldPrompt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() calls — your app code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App </a:t>
            </a:r>
            <a:r>
              <a:rPr lang="en-US" sz="1200" b="1" dirty="0">
                <a:solidFill>
                  <a:srgbClr val="605E5C"/>
                </a:solidFill>
                <a:latin typeface="Segoe UI"/>
              </a:rPr>
              <a:t>integration</a:t>
            </a:r>
            <a:r>
              <a:rPr sz="1200" b="1" dirty="0">
                <a:solidFill>
                  <a:srgbClr val="605E5C"/>
                </a:solidFill>
                <a:latin typeface="Segoe UI"/>
              </a:rPr>
              <a:t>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yes — wrap every write &amp; 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Per-item check:  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available — full </a:t>
            </a:r>
            <a:r>
              <a:rPr sz="1200" b="0" dirty="0" err="1">
                <a:solidFill>
                  <a:srgbClr val="107C10"/>
                </a:solidFill>
                <a:latin typeface="Segoe UI"/>
              </a:rPr>
              <a:t>defence</a:t>
            </a:r>
            <a:r>
              <a:rPr sz="1200" b="0" dirty="0">
                <a:solidFill>
                  <a:srgbClr val="107C10"/>
                </a:solidFill>
                <a:latin typeface="Segoe UI"/>
              </a:rPr>
              <a:t> in depth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dirty="0">
                <a:solidFill>
                  <a:srgbClr val="605E5C"/>
                </a:solidFill>
                <a:latin typeface="Segoe UI"/>
              </a:rPr>
              <a:t>Cost:  </a:t>
            </a:r>
            <a:r>
              <a:rPr sz="1200" b="0" dirty="0">
                <a:solidFill>
                  <a:srgbClr val="201F1E"/>
                </a:solidFill>
                <a:latin typeface="Segoe UI"/>
              </a:rPr>
              <a:t>memory orchestration leaves Foundry — more app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5440680"/>
            <a:ext cx="10607040" cy="777240"/>
          </a:xfrm>
          <a:prstGeom prst="roundRect">
            <a:avLst>
              <a:gd name="adj" fmla="val 6000"/>
            </a:avLst>
          </a:prstGeom>
          <a:solidFill>
            <a:srgbClr val="DEECF9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5440680"/>
            <a:ext cx="10058400" cy="777240"/>
          </a:xfrm>
          <a:prstGeom prst="rect">
            <a:avLst/>
          </a:prstGeom>
          <a:noFill/>
        </p:spPr>
        <p:txBody>
          <a:bodyPr wrap="square" lIns="50800" tIns="25400" rIns="50800" bIns="2540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243A5E"/>
                </a:solidFill>
                <a:latin typeface="Segoe UI"/>
              </a:rPr>
              <a:t>Gislefoss runs its agent </a:t>
            </a:r>
            <a:r>
              <a:rPr sz="1350" b="1">
                <a:solidFill>
                  <a:srgbClr val="5C2D91"/>
                </a:solidFill>
                <a:latin typeface="Segoe UI"/>
              </a:rPr>
              <a:t>inside Foundry</a:t>
            </a:r>
            <a:r>
              <a:rPr sz="1350" b="0">
                <a:solidFill>
                  <a:srgbClr val="243A5E"/>
                </a:solidFill>
                <a:latin typeface="Segoe UI"/>
              </a:rPr>
              <a:t>  →  any memory protection would be </a:t>
            </a:r>
            <a:r>
              <a:rPr sz="1350" b="1">
                <a:solidFill>
                  <a:srgbClr val="5C2D91"/>
                </a:solidFill>
                <a:latin typeface="Segoe UI"/>
              </a:rPr>
              <a:t>platform-side (Bicep)</a:t>
            </a:r>
            <a:r>
              <a:rPr sz="1350" b="0">
                <a:solidFill>
                  <a:srgbClr val="243A5E"/>
                </a:solidFill>
                <a:latin typeface="Segoe UI"/>
              </a:rPr>
              <a:t>.  The agent is stateless today — </a:t>
            </a:r>
            <a:r>
              <a:rPr sz="1350" b="1">
                <a:solidFill>
                  <a:srgbClr val="107C10"/>
                </a:solidFill>
                <a:latin typeface="Segoe UI"/>
              </a:rPr>
              <a:t>no application change is needed 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FOUNDRY AGENT SERVICE · BUILT-IN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managed memory subsystem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Turn it on and Foundry runs the whole pipeline server-side — no vector database to build or run.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1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EXTRACTION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chat model distils durable facts from each conversation — home city, preferred units.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82112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85032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2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CONSOLIDATION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Facts are merged, updated and de-duplicated over time; each write resets the item’s freshness clock.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9944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3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VECTOR STORAGE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Every memory is embedded and held in a managed vector store — no search service to run yourself.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1936" y="3232404"/>
            <a:ext cx="310896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078D4"/>
                </a:solidFill>
                <a:latin typeface="Segoe UI"/>
              </a:rPr>
              <a:t>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2331720"/>
            <a:ext cx="2395728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34855" y="2532888"/>
            <a:ext cx="2029968" cy="1874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078D4"/>
                </a:solidFill>
                <a:latin typeface="Segoe UI"/>
              </a:rPr>
              <a:t>STEP 4</a:t>
            </a:r>
          </a:p>
          <a:p>
            <a:pPr algn="l">
              <a:lnSpc>
                <a:spcPct val="102000"/>
              </a:lnSpc>
              <a:spcAft>
                <a:spcPts val="5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SEMANTIC RETRIEVAL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605E5C"/>
                </a:solidFill>
                <a:latin typeface="Segoe UI"/>
              </a:rPr>
              <a:t>The most relevant memories are recalled by meaning and added to the next prompt.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773168"/>
            <a:ext cx="10607040" cy="1024128"/>
          </a:xfrm>
          <a:prstGeom prst="roundRect">
            <a:avLst>
              <a:gd name="adj" fmla="val 5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773168"/>
            <a:ext cx="1005840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All four stages run inside Foundry’s managed loop.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C7D6EA"/>
                </a:solidFill>
                <a:latin typeface="Segoe UI"/>
              </a:rPr>
              <a:t>You bring two model deployments; the platform does the extraction, vectorization, storage and recall. That same convenience is why the next slides treat memory as new attack surface.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TURN IT ON · OPERATIONS, COST &amp;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Size, cost, TTL &amp; the embedding dependency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Four decisions are yours before flipping deployMemory = true — the loop won’t make them for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1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SIZE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Items, not gigabytes.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≈ 10,000 memories per user-scope, ~1,000 req/min (reported · preview · unconfirmed; absent from the official quota doc). A weather bot stores a handful per user.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4028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240487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COST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Free in preview.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You pay only the chat + embedding tokens spent on extraction &amp; retrieval — no fixed memory fee. GA pricing not yet published.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33271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RETENTION · TTL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Sliding, set at create time.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605E5C"/>
                </a:solidFill>
                <a:latin typeface="Segoe UI"/>
              </a:rPr>
              <a:t>Reset on every update. ~90 days suits low-cadence weather use; 0 = never expires — unbounded PII, avoid.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114800"/>
            <a:ext cx="512064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19672" y="4279392"/>
            <a:ext cx="4608575" cy="1472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C5292A"/>
                </a:solidFill>
                <a:latin typeface="Segoe UI"/>
              </a:rPr>
              <a:t>EMBEDDING </a:t>
            </a:r>
            <a:r>
              <a:rPr lang="en-US" sz="1300" b="1">
                <a:solidFill>
                  <a:srgbClr val="C5292A"/>
                </a:solidFill>
                <a:latin typeface="Segoe UI"/>
              </a:rPr>
              <a:t>MODEL </a:t>
            </a:r>
            <a:r>
              <a:rPr sz="1300" b="1">
                <a:solidFill>
                  <a:srgbClr val="C5292A"/>
                </a:solidFill>
                <a:latin typeface="Segoe UI"/>
              </a:rPr>
              <a:t>DEPENDENCY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400" b="1" dirty="0">
                <a:solidFill>
                  <a:srgbClr val="243A5E"/>
                </a:solidFill>
                <a:latin typeface="Segoe UI"/>
              </a:rPr>
              <a:t>Not built in — you bring 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dirty="0">
                <a:solidFill>
                  <a:srgbClr val="605E5C"/>
                </a:solidFill>
                <a:latin typeface="Segoe UI"/>
              </a:rPr>
              <a:t>Deploy your own embedding + chat model (e.g. text-embedding-3-small) and name both on the store.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989320"/>
            <a:ext cx="10607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43A5E"/>
                </a:solidFill>
                <a:latin typeface="Segoe UI"/>
              </a:rPr>
              <a:t>Today Gislefoss sets deployMemory = false → the agent is stateless and memory costs nothing.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Three things to remember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49631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Containment, not rivalry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A Prompt Shield is one detector inside the guardrail (RAI policy) — not a competing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6616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61188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Content vs. intent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Guardrail harm filters catch toxic CONTENT; shields catch adversarial INTENT (hijacking).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148072"/>
            <a:ext cx="502920" cy="64008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37760"/>
            <a:ext cx="9784080" cy="1188720"/>
          </a:xfrm>
          <a:prstGeom prst="rect">
            <a:avLst/>
          </a:prstGeom>
          <a:noFill/>
        </p:spPr>
        <p:txBody>
          <a:bodyPr wrap="square" lIns="50800" tIns="25400" rIns="508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Both, platform-side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The Meteorologist needs both, and in Gislefoss they live in foundry.bicep — not in app code.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AZURE AI FOUNDRY · CHOOSING A DEPLOYMENT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Which deployment type, when?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Match it to your stage — and to whether processing must stay in a data boundary.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103120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Colour = where inference runs:    </a:t>
            </a:r>
            <a:r>
              <a:rPr sz="1100" b="1" i="0">
                <a:solidFill>
                  <a:srgbClr val="0078D4"/>
                </a:solidFill>
                <a:latin typeface="Segoe UI"/>
              </a:rPr>
              <a:t>Global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any region        </a:t>
            </a:r>
            <a:r>
              <a:rPr sz="1100" b="1" i="0">
                <a:solidFill>
                  <a:srgbClr val="107C10"/>
                </a:solidFill>
                <a:latin typeface="Segoe UI"/>
              </a:rPr>
              <a:t>Data Zone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US or EU zone        </a:t>
            </a:r>
            <a:r>
              <a:rPr sz="1100" b="1" i="0">
                <a:solidFill>
                  <a:srgbClr val="5C2D91"/>
                </a:solidFill>
                <a:latin typeface="Segoe UI"/>
              </a:rPr>
              <a:t>Regional</a:t>
            </a:r>
            <a:r>
              <a:rPr sz="1100" b="0" i="0">
                <a:solidFill>
                  <a:srgbClr val="605E5C"/>
                </a:solidFill>
                <a:latin typeface="Segoe UI"/>
              </a:rPr>
              <a:t> one region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PROTOTYPE / LOW VOLUME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2999232"/>
            <a:ext cx="3042208" cy="260603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for EU enterprise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GlobalStandard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no data-boundary requirement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07408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07408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PRODUCTION / HIGH VOLUME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999232"/>
            <a:ext cx="3042208" cy="260603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 enterprise default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global processing is acceptable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5C2D91"/>
                </a:solidFill>
                <a:latin typeface="Segoe UI"/>
              </a:rPr>
              <a:t>Regional Provisioned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ProvisionedManaged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if exact-region compliance is required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2468880"/>
            <a:ext cx="3353104" cy="324612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28431" y="2468880"/>
            <a:ext cx="3353104" cy="420624"/>
          </a:xfrm>
          <a:prstGeom prst="roundRect">
            <a:avLst>
              <a:gd name="adj" fmla="val 45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 i="0">
                <a:solidFill>
                  <a:srgbClr val="FFFFFF"/>
                </a:solidFill>
                <a:latin typeface="Segoe UI"/>
              </a:rPr>
              <a:t>OFFLINE /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2999232"/>
            <a:ext cx="3042208" cy="2606039"/>
          </a:xfrm>
          <a:prstGeom prst="rect">
            <a:avLst/>
          </a:prstGeom>
          <a:noFill/>
        </p:spPr>
        <p:txBody>
          <a:bodyPr wrap="square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Segoe UI"/>
              </a:rPr>
              <a:t>Global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GlobalBatch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cheapest/flexible bulk processing</a:t>
            </a:r>
          </a:p>
          <a:p>
            <a:pPr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Data Zone 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 i="0">
                <a:solidFill>
                  <a:srgbClr val="243A5E"/>
                </a:solidFill>
                <a:latin typeface="Consolas"/>
              </a:rPr>
              <a:t>DataZoneBatch</a:t>
            </a:r>
          </a:p>
          <a:p>
            <a:pPr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00" b="0" i="0">
                <a:solidFill>
                  <a:srgbClr val="605E5C"/>
                </a:solidFill>
                <a:latin typeface="Consolas"/>
              </a:rPr>
              <a:t>// EU/US bounded bulk processing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852160"/>
            <a:ext cx="10607040" cy="475488"/>
          </a:xfrm>
          <a:prstGeom prst="roundRect">
            <a:avLst>
              <a:gd name="adj" fmla="val 6000"/>
            </a:avLst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38100" bIns="38100"/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Gislefoss today: a prototype on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GlobalStandard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.   EU-residency path →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DataZoneStandard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now, </a:t>
            </a:r>
            <a:r>
              <a:rPr sz="1050" b="0" i="0">
                <a:solidFill>
                  <a:srgbClr val="C7D6EA"/>
                </a:solidFill>
                <a:latin typeface="Consolas"/>
              </a:rPr>
              <a:t>DataZoneProvisionedManaged</a:t>
            </a:r>
            <a:r>
              <a:rPr sz="1100" b="0" i="0">
                <a:solidFill>
                  <a:srgbClr val="FFFFFF"/>
                </a:solidFill>
                <a:latin typeface="Segoe UI"/>
              </a:rPr>
              <a:t> at production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2766</Words>
  <Application>Microsoft Office PowerPoint</Application>
  <PresentationFormat>Widescreen</PresentationFormat>
  <Paragraphs>360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Mikael Chudinov</cp:lastModifiedBy>
  <cp:revision>7</cp:revision>
  <dcterms:created xsi:type="dcterms:W3CDTF">2013-01-27T09:14:16Z</dcterms:created>
  <dcterms:modified xsi:type="dcterms:W3CDTF">2026-06-15T22:43:23Z</dcterms:modified>
  <cp:category/>
</cp:coreProperties>
</file>