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0" r:id="rId3"/>
    <p:sldId id="257" r:id="rId4"/>
    <p:sldId id="281" r:id="rId5"/>
    <p:sldId id="278" r:id="rId6"/>
    <p:sldId id="276" r:id="rId7"/>
    <p:sldId id="279" r:id="rId8"/>
    <p:sldId id="277" r:id="rId9"/>
    <p:sldId id="282" r:id="rId10"/>
    <p:sldId id="283" r:id="rId11"/>
    <p:sldId id="260" r:id="rId12"/>
    <p:sldId id="264" r:id="rId13"/>
    <p:sldId id="269" r:id="rId14"/>
    <p:sldId id="262" r:id="rId15"/>
    <p:sldId id="263" r:id="rId16"/>
    <p:sldId id="259" r:id="rId17"/>
    <p:sldId id="261" r:id="rId18"/>
    <p:sldId id="268" r:id="rId19"/>
    <p:sldId id="271" r:id="rId20"/>
    <p:sldId id="270" r:id="rId21"/>
    <p:sldId id="265" r:id="rId22"/>
    <p:sldId id="266" r:id="rId23"/>
    <p:sldId id="267" r:id="rId24"/>
    <p:sldId id="274" r:id="rId25"/>
    <p:sldId id="275" r:id="rId26"/>
    <p:sldId id="284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352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599" y="1453896"/>
            <a:ext cx="4242817" cy="251350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4000" b="1" dirty="0">
                <a:solidFill>
                  <a:srgbClr val="8AB9E8"/>
                </a:solidFill>
                <a:latin typeface="Segoe UI"/>
              </a:rPr>
              <a:t>AZURE AI FOUNDRY · features and capabilities</a:t>
            </a:r>
          </a:p>
        </p:txBody>
      </p:sp>
      <p:sp>
        <p:nvSpPr>
          <p:cNvPr id="50" name="TopicsAccentBar"/>
          <p:cNvSpPr/>
          <p:nvPr/>
        </p:nvSpPr>
        <p:spPr>
          <a:xfrm>
            <a:off x="5257800" y="1188720"/>
            <a:ext cx="54864" cy="50749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opicsList"/>
          <p:cNvSpPr txBox="1"/>
          <p:nvPr/>
        </p:nvSpPr>
        <p:spPr>
          <a:xfrm>
            <a:off x="5513832" y="192024"/>
            <a:ext cx="6312408" cy="5980176"/>
          </a:xfrm>
          <a:prstGeom prst="rect">
            <a:avLst/>
          </a:prstGeom>
          <a:noFill/>
        </p:spPr>
        <p:txBody>
          <a:bodyPr wrap="square" lIns="50800" tIns="25400" rIns="50800" bIns="2540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lang="en-US" sz="2000" b="1" dirty="0">
                <a:solidFill>
                  <a:srgbClr val="8AB9E8"/>
                </a:solidFill>
                <a:latin typeface="Segoe UI"/>
              </a:rPr>
              <a:t>Azure AI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abbreviations for Foundry resources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Foundry RBAC — roles &amp; access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Where your inferencing data is processed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Deployment type is two choices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Standard vs Provisioned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Why the persona should live in git, not in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Two kinds of injection attack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Guardrail vs. Prompt Shield</a:t>
            </a:r>
          </a:p>
          <a:p>
            <a:pPr marL="200025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Memory: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Shield on memory I/O — the protection technology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 managed memory subsystem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Size, cost, TTL &amp; the embedding dependency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RESOURCE MODEL · ACCOUNT &amp;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Foundry isn't one object — it's a parent/child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201F1E"/>
                </a:solidFill>
                <a:latin typeface="Segoe UI"/>
              </a:rPr>
              <a:t>An Azure AI Foundry is an </a:t>
            </a:r>
            <a:r>
              <a:rPr sz="2200" b="1">
                <a:solidFill>
                  <a:srgbClr val="0078D4"/>
                </a:solidFill>
                <a:latin typeface="Segoe UI"/>
              </a:rPr>
              <a:t>account</a:t>
            </a:r>
            <a:r>
              <a:rPr sz="2200" b="0">
                <a:solidFill>
                  <a:srgbClr val="201F1E"/>
                </a:solidFill>
                <a:latin typeface="Segoe UI"/>
              </a:rPr>
              <a:t> with one or more </a:t>
            </a:r>
            <a:r>
              <a:rPr sz="2200" b="1">
                <a:solidFill>
                  <a:srgbClr val="107C10"/>
                </a:solidFill>
                <a:latin typeface="Segoe UI"/>
              </a:rPr>
              <a:t>projects</a:t>
            </a:r>
            <a:r>
              <a:rPr sz="2200" b="0">
                <a:solidFill>
                  <a:srgbClr val="201F1E"/>
                </a:solidFill>
                <a:latin typeface="Segoe UI"/>
              </a:rPr>
              <a:t> nested inside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Model deployments, the Guardrail, capability hosts and RBAC each attach at one of these two scopes.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ACCOUNT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parent resource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Microsoft.CognitiveServices/accounts (kind AIServices). Holds model deployments, the Guardrail (RAI policy) and the account capability host. One endpoint; CAF-named aif-….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PROJECT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child workspace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An accounts/projects resource under the account. Holds agents, threads/runs and connections, plus the project capability host. One account → many projects.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4416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aif-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project123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-prod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-sdc</a:t>
            </a:r>
            <a:endParaRPr sz="1500" b="0" dirty="0">
              <a:solidFill>
                <a:srgbClr val="605E5C"/>
              </a:solidFill>
              <a:latin typeface="Segoe UI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13867"/>
              </p:ext>
            </p:extLst>
          </p:nvPr>
        </p:nvGraphicFramePr>
        <p:xfrm>
          <a:off x="777240" y="1790889"/>
          <a:ext cx="106070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  <a:endParaRPr sz="11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aif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-prod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proj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oai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ais-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srch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cs-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hub-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158551"/>
            <a:ext cx="10607040" cy="1178241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224579"/>
            <a:ext cx="10241280" cy="10461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dirty="0">
                <a:solidFill>
                  <a:srgbClr val="243A5E"/>
                </a:solidFill>
                <a:latin typeface="Segoe UI"/>
              </a:rPr>
              <a:t>No CAF abbreviation for sub-resources &amp; data-plane objects — name them descriptively:</a:t>
            </a:r>
            <a:endParaRPr sz="1250" b="0" dirty="0">
              <a:solidFill>
                <a:srgbClr val="201F1E"/>
              </a:solidFill>
              <a:latin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model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deployment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model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b="0" dirty="0">
                <a:solidFill>
                  <a:srgbClr val="605E5C"/>
                </a:solidFill>
                <a:latin typeface="Consolas"/>
              </a:rPr>
              <a:t>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sz="1100" b="1" dirty="0">
                <a:solidFill>
                  <a:srgbClr val="107C10"/>
                </a:solidFill>
                <a:latin typeface="Consolas"/>
              </a:rPr>
              <a:t>chat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r>
              <a:rPr sz="1000" b="0" dirty="0">
                <a:solidFill>
                  <a:srgbClr val="605E5C"/>
                </a:solidFill>
                <a:latin typeface="Segoe UI"/>
              </a:rPr>
              <a:t>   (</a:t>
            </a:r>
            <a:r>
              <a:rPr sz="1000" b="1" dirty="0">
                <a:solidFill>
                  <a:srgbClr val="107C10"/>
                </a:solidFill>
                <a:latin typeface="Consolas"/>
              </a:rPr>
              <a:t>chat</a:t>
            </a:r>
            <a:r>
              <a:rPr sz="1000" b="0" dirty="0">
                <a:solidFill>
                  <a:srgbClr val="605E5C"/>
                </a:solidFill>
                <a:latin typeface="Segoe UI"/>
              </a:rPr>
              <a:t> = purpose token)</a:t>
            </a:r>
          </a:p>
          <a:p>
            <a:pPr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(RAI policy)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guardrail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     ·      </a:t>
            </a:r>
            <a:endParaRPr lang="en-US" sz="1100" b="0" dirty="0">
              <a:solidFill>
                <a:srgbClr val="605E5C"/>
              </a:solidFill>
              <a:latin typeface="Segoe UI"/>
            </a:endParaRPr>
          </a:p>
          <a:p>
            <a:pPr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agent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agent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</a:p>
          <a:p>
            <a:r>
              <a:rPr sz="1100" b="1" dirty="0">
                <a:solidFill>
                  <a:srgbClr val="605E5C"/>
                </a:solidFill>
                <a:latin typeface="Segoe UI"/>
              </a:rPr>
              <a:t>memory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store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mem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endParaRPr sz="1100" b="1" dirty="0">
              <a:solidFill>
                <a:srgbClr val="0078D4"/>
              </a:solidFill>
              <a:latin typeface="Consola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  <p:sp>
        <p:nvSpPr>
          <p:cNvPr id="12" name="TextBox Source"/>
          <p:cNvSpPr txBox="1"/>
          <p:nvPr/>
        </p:nvSpPr>
        <p:spPr>
          <a:xfrm>
            <a:off x="792327" y="4910328"/>
            <a:ext cx="106070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IDENTITY &amp; ACCESS · BUILT-IN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Built-in Foundry roles — who can do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>
                <a:solidFill>
                  <a:srgbClr val="201F1E"/>
                </a:solidFill>
                <a:latin typeface="Segoe UI"/>
              </a:rPr>
              <a:t>The four built-in Foundry roles and the seven actions each one grants — author vs. run vs.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3013507"/>
              </p:ext>
            </p:extLst>
          </p:nvPr>
        </p:nvGraphicFramePr>
        <p:xfrm>
          <a:off x="777240" y="2300000"/>
          <a:ext cx="10607040" cy="2347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projects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Build &amp; develop in a project (data actions)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Segoe UI"/>
                        </a:rPr>
                        <a:t>R</a:t>
                      </a: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ole 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Segoe UI"/>
                        </a:rPr>
                        <a:t>assignments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Reader access to projects &amp;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Manage models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only assign Foundry User role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 dirty="0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6B13748-D9B4-D184-51EE-52F34A1F843E}"/>
              </a:ext>
            </a:extLst>
          </p:cNvPr>
          <p:cNvSpPr txBox="1"/>
          <p:nvPr/>
        </p:nvSpPr>
        <p:spPr>
          <a:xfrm>
            <a:off x="658368" y="5120036"/>
            <a:ext cx="10479024" cy="1301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1" dirty="0">
                <a:solidFill>
                  <a:srgbClr val="243A5E"/>
                </a:solidFill>
                <a:latin typeface="Segoe UI"/>
              </a:rPr>
              <a:t>Split RBAC — deployment and runtime: author ≠ runtime:</a:t>
            </a:r>
          </a:p>
          <a:p>
            <a:pPr marL="285750" indent="-285750">
              <a:lnSpc>
                <a:spcPct val="104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01F1E"/>
                </a:solidFill>
                <a:latin typeface="Segoe UI"/>
              </a:rPr>
              <a:t>Provisoiner infrastructure (account, projects, models) → 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Segoe UI"/>
              </a:rPr>
              <a:t>Foundry Owner</a:t>
            </a:r>
            <a:endParaRPr lang="en-US" sz="1800" b="0" dirty="0">
              <a:solidFill>
                <a:schemeClr val="accent2">
                  <a:lumMod val="75000"/>
                </a:schemeClr>
              </a:solidFill>
              <a:latin typeface="Segoe UI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Provisioner agents  →  </a:t>
            </a:r>
            <a:r>
              <a:rPr lang="en-US" sz="1800" b="1" dirty="0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lang="en-US" sz="1800" b="1" dirty="0">
                <a:solidFill>
                  <a:srgbClr val="0078D4"/>
                </a:solidFill>
                <a:latin typeface="Segoe UI"/>
              </a:rPr>
              <a:t>Foundry User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ANATOMY OF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3000" b="1" dirty="0">
                <a:solidFill>
                  <a:srgbClr val="243A5E"/>
                </a:solidFill>
                <a:latin typeface="Segoe UI"/>
              </a:rPr>
              <a:t>Foundry 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deployment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: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two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axes</a:t>
            </a:r>
            <a:endParaRPr sz="3000" b="1" dirty="0">
              <a:solidFill>
                <a:srgbClr val="243A5E"/>
              </a:solidFill>
              <a:latin typeface="Segoe U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Pick how you pay and where data is processed — the two combine into one SKU.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304288"/>
            <a:ext cx="187451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2304288"/>
            <a:ext cx="1783079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243A5E"/>
                </a:solidFill>
                <a:latin typeface="Segoe UI"/>
              </a:rPr>
              <a:t>deployment type =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605E5C"/>
                </a:solidFill>
                <a:latin typeface="Segoe UI"/>
              </a:rPr>
              <a:t>↓ how you pay   → where it runs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0632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70632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GLOBAL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any Azure region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107C10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0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DATA ZONE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US or EU zone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67928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5C2D91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67928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REGIONAL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one region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2962656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2962656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pay-per-token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4096512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096512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PROVISIONED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reserved PTU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70632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DEECF9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70632" y="3275780"/>
            <a:ext cx="2779776" cy="379591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 dirty="0" err="1">
                <a:solidFill>
                  <a:srgbClr val="243A5E"/>
                </a:solidFill>
                <a:latin typeface="Consolas"/>
              </a:rPr>
              <a:t>GlobalStandard</a:t>
            </a:r>
            <a:endParaRPr sz="1100" b="1" i="0" dirty="0">
              <a:solidFill>
                <a:srgbClr val="243A5E"/>
              </a:solidFill>
              <a:latin typeface="Consolas"/>
            </a:endParaRPr>
          </a:p>
          <a:p>
            <a:pPr algn="ctr">
              <a:spcAft>
                <a:spcPts val="0"/>
              </a:spcAft>
            </a:pPr>
            <a:r>
              <a:rPr lang="en-US" sz="950" b="1" i="0" dirty="0">
                <a:solidFill>
                  <a:srgbClr val="0078D4"/>
                </a:solidFill>
                <a:latin typeface="Segoe UI"/>
              </a:rPr>
              <a:t>Most common choice</a:t>
            </a:r>
            <a:endParaRPr sz="950" b="1" i="0" dirty="0">
              <a:solidFill>
                <a:srgbClr val="0078D4"/>
              </a:solidFill>
              <a:latin typeface="Segoe U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669280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0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US or EU zone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67928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67928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70632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70632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global + reserved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0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0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zone + reserved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67928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67928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 + reserved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230368"/>
            <a:ext cx="10570464" cy="786384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77240" y="5238839"/>
            <a:ext cx="10570464" cy="769441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 dirty="0">
                <a:solidFill>
                  <a:srgbClr val="FFFFFF"/>
                </a:solidFill>
                <a:latin typeface="Segoe UI"/>
              </a:rPr>
              <a:t>One SKU = one cell of this grid.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Most common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=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. </a:t>
            </a:r>
            <a:endParaRPr lang="en-US" sz="1200" b="0" i="0" dirty="0">
              <a:solidFill>
                <a:srgbClr val="C7D6EA"/>
              </a:solidFill>
              <a:latin typeface="Segoe UI"/>
            </a:endParaRPr>
          </a:p>
          <a:p>
            <a:pPr algn="l">
              <a:spcAft>
                <a:spcPts val="0"/>
              </a:spcAft>
            </a:pPr>
            <a:r>
              <a:rPr sz="1200" b="1" i="0" dirty="0">
                <a:solidFill>
                  <a:srgbClr val="C7D6EA"/>
                </a:solidFill>
                <a:latin typeface="Segoe UI"/>
              </a:rPr>
              <a:t>Batch flavor 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(</a:t>
            </a:r>
            <a:r>
              <a:rPr sz="1200" b="0" i="0" dirty="0" err="1">
                <a:solidFill>
                  <a:srgbClr val="C7D6EA"/>
                </a:solidFill>
                <a:latin typeface="Consolas"/>
              </a:rPr>
              <a:t>GlobalBatch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· </a:t>
            </a:r>
            <a:r>
              <a:rPr sz="1200" b="0" i="0" dirty="0" err="1">
                <a:solidFill>
                  <a:srgbClr val="C7D6EA"/>
                </a:solidFill>
                <a:latin typeface="Consolas"/>
              </a:rPr>
              <a:t>DataZoneBatch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) for async bulk processing.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MODEL DEPLOYMENT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Where your inferencing data is processed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Inferencing</a:t>
            </a:r>
            <a:r>
              <a:rPr lang="nb-NO" sz="1600" b="0" dirty="0">
                <a:solidFill>
                  <a:srgbClr val="605E5C"/>
                </a:solidFill>
                <a:latin typeface="Segoe UI"/>
              </a:rPr>
              <a:t> data - </a:t>
            </a:r>
            <a:r>
              <a:rPr lang="ru-RU" sz="1600" dirty="0"/>
              <a:t>data used during a model call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605E5C"/>
                </a:solidFill>
                <a:latin typeface="Segoe UI"/>
              </a:rPr>
              <a:t>Deployment type — not region — decides which datacenters may run your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GLOBAL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GlobalStandard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Any eligible Azure region, worldwide.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Highest default quota; broadest model choice.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Receives new models &amp; features first.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Inference may run in any Azure region, globally.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EECF9"/>
          </a:solidFill>
          <a:ln w="1016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078D4"/>
                </a:solidFill>
                <a:latin typeface="Segoe UI"/>
              </a:rPr>
              <a:t>✓  Gislefoss uses this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DATA ZONE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DataZoneStandard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Within a chosen data zone — US or EU.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Processing stays inside the zone boundary.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EU zone = EU Data Boundary (Sweden, Norway…).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Higher quota than single-region Standard.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FF6DD"/>
          </a:solidFill>
          <a:ln w="1016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07C10"/>
                </a:solidFill>
                <a:latin typeface="Segoe UI"/>
              </a:rPr>
              <a:t>→  Pick this for EU data residency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39512"/>
            <a:ext cx="10607040" cy="868680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294375"/>
            <a:ext cx="10058400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 dirty="0">
                <a:solidFill>
                  <a:srgbClr val="FFFFFF"/>
                </a:solidFill>
                <a:latin typeface="Segoe UI"/>
              </a:rPr>
              <a:t>Data at rest always stays in your Azure geography </a:t>
            </a:r>
            <a:r>
              <a:rPr sz="1350" b="0" dirty="0">
                <a:solidFill>
                  <a:srgbClr val="C7D6EA"/>
                </a:solidFill>
                <a:latin typeface="Segoe UI"/>
              </a:rPr>
              <a:t>— only the processing location changes.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200" b="0" dirty="0">
                <a:solidFill>
                  <a:srgbClr val="C7D6EA"/>
                </a:solidFill>
                <a:latin typeface="Segoe UI"/>
              </a:rPr>
              <a:t>Even an agent</a:t>
            </a:r>
            <a:r>
              <a:rPr sz="1200" b="0" dirty="0">
                <a:solidFill>
                  <a:srgbClr val="C7D6EA"/>
                </a:solidFill>
                <a:latin typeface="Segoe UI"/>
              </a:rPr>
              <a:t> runs gpt-4o as </a:t>
            </a:r>
            <a:r>
              <a:rPr sz="1200" b="1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dirty="0">
                <a:solidFill>
                  <a:srgbClr val="C7D6EA"/>
                </a:solidFill>
                <a:latin typeface="Segoe UI"/>
              </a:rPr>
              <a:t> from Sweden Central — an EU-boundary region — yet inference can still leave the EU.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THE BILLING 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Standard vs Provisioned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Pay-per-token elasticity, or reserved capacity with guaranteed throughput.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STANDARD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pay-per-token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Pay only for the tokens you use.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per-token consumption — no commitment.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best-effort TPM quota; nothing reserved.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variable; no throughput SLA.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cost scales to zero when unused.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bursty, low–medium volume, prototypes.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Standard · DataZoneStandard · GlobalStandard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C2D91"/>
                </a:solidFill>
                <a:latin typeface="Segoe UI"/>
              </a:rPr>
              <a:t>PROVISIONED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reserved PTU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Reserve capacity in PTUs up front.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fixed reserved capacity — pay used or not.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guaranteed throughput; minimum PTU.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low and consistent — SLA-backed.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always-on cost; built for steady scale.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consistent, high, predictable volume.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ProvisionedManaged · DataZoneProvisionedManaged · GlobalProvisionedManaged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99611"/>
            <a:ext cx="10570464" cy="577081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 dirty="0">
                <a:solidFill>
                  <a:srgbClr val="FFFFFF"/>
                </a:solidFill>
                <a:latin typeface="Segoe UI"/>
              </a:rPr>
              <a:t>Prompt caching pays off either way — partial discount on Standard, up to 100% off cached input on Provisioned.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Most common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</a:t>
            </a: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is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today; the production EU path is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DataZoneProvisionedManaged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CHOOSING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Which deployment type, when?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Match it to your stage — and to whether processing must stay in a data boundary.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106070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Colour = where inference runs:    </a:t>
            </a:r>
            <a:r>
              <a:rPr sz="1100" b="1" i="0">
                <a:solidFill>
                  <a:srgbClr val="0078D4"/>
                </a:solidFill>
                <a:latin typeface="Segoe UI"/>
              </a:rPr>
              <a:t>Global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any region        </a:t>
            </a:r>
            <a:r>
              <a:rPr sz="1100" b="1" i="0">
                <a:solidFill>
                  <a:srgbClr val="107C10"/>
                </a:solidFill>
                <a:latin typeface="Segoe UI"/>
              </a:rPr>
              <a:t>Data Zone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US or EU zone        </a:t>
            </a:r>
            <a:r>
              <a:rPr sz="1100" b="1" i="0">
                <a:solidFill>
                  <a:srgbClr val="5C2D91"/>
                </a:solidFill>
                <a:latin typeface="Segoe UI"/>
              </a:rPr>
              <a:t>Regional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one region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77240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PROTOTYPE / LOW 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for EU enterprise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no data-boundary requirement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7408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407408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PRODUCTION / HIGH VOLUME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 enterprise default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global processing is acceptable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5C2D91"/>
                </a:solidFill>
                <a:latin typeface="Segoe UI"/>
              </a:rPr>
              <a:t>Regional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exact-region compliance is required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28431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OFFLINE / BATCH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cheapest/flexible bulk processing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EU/US bounded bulk processing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852160"/>
            <a:ext cx="10607040" cy="47548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38100" rIns="127000" bIns="38100" rtlCol="0" anchor="ctr"/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Segoe UI"/>
              </a:rPr>
              <a:t>Common </a:t>
            </a:r>
            <a:r>
              <a:rPr lang="en-US" sz="1100" b="0" i="0" dirty="0" err="1">
                <a:solidFill>
                  <a:srgbClr val="FFFFFF"/>
                </a:solidFill>
                <a:latin typeface="Segoe UI"/>
              </a:rPr>
              <a:t>choise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: a prototype on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GlobalStandard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.   EU-residency path →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DataZoneStandard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 now,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DataZoneProvisionedManaged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 at production scale.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CAPACITY &amp; QUOTA · SUBSCRIPTION-SCOPED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2614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>
                <a:solidFill>
                  <a:srgbClr val="243A5E"/>
                </a:solidFill>
                <a:latin typeface="Segoe UI"/>
              </a:rPr>
              <a:t>Quota is per </a:t>
            </a:r>
            <a:r>
              <a:rPr lang="en-US" sz="2800" b="1" dirty="0">
                <a:solidFill>
                  <a:srgbClr val="243A5E"/>
                </a:solidFill>
                <a:latin typeface="Segoe UI"/>
              </a:rPr>
              <a:t>Azure </a:t>
            </a:r>
            <a:r>
              <a:rPr sz="280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lang="nb-NO" sz="2800" b="1" dirty="0">
                <a:solidFill>
                  <a:srgbClr val="243A5E"/>
                </a:solidFill>
                <a:latin typeface="Segoe UI"/>
              </a:rPr>
              <a:t>/region/</a:t>
            </a:r>
            <a:r>
              <a:rPr lang="nb-NO" sz="2800" b="1" dirty="0" err="1">
                <a:solidFill>
                  <a:srgbClr val="243A5E"/>
                </a:solidFill>
                <a:latin typeface="Segoe UI"/>
              </a:rPr>
              <a:t>model</a:t>
            </a:r>
            <a:r>
              <a:rPr sz="2800" b="1" dirty="0">
                <a:solidFill>
                  <a:srgbClr val="243A5E"/>
                </a:solidFill>
                <a:latin typeface="Segoe UI"/>
              </a:rPr>
              <a:t> — not per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Model quota — tokens-per-minute and provisioned PTU — is allocated </a:t>
            </a:r>
            <a:r>
              <a:rPr lang="nb-NO" sz="2000" b="1" dirty="0" err="1">
                <a:solidFill>
                  <a:srgbClr val="605E5C"/>
                </a:solidFill>
                <a:latin typeface="Segoe UI"/>
              </a:rPr>
              <a:t>per subscription, per region, per model</a:t>
            </a: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. Two Foundry accounts in the same subscription + region draw from one token budget.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256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 dirty="0">
                <a:solidFill>
                  <a:srgbClr val="C5292A"/>
                </a:solidFill>
                <a:latin typeface="Segoe UI"/>
              </a:rPr>
              <a:t>SHARED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   ·  </a:t>
            </a:r>
            <a:r>
              <a:rPr sz="1200" b="1" i="0" dirty="0">
                <a:solidFill>
                  <a:srgbClr val="605E5C"/>
                </a:solidFill>
                <a:latin typeface="Consolas"/>
              </a:rPr>
              <a:t>same subscription 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+ region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+ TeamB share one 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One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both teams' accounts pull from a single per-region TPM/PTU budget.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Noisy neighbour: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 TeamA spike can exhaust quota and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Accounts don't help: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separate accounts isolate config &amp; RBAC — not quota.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TeamA-acct  +  TeamB-acct   →   one shared quota pool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256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 dirty="0">
                <a:solidFill>
                  <a:srgbClr val="107C10"/>
                </a:solidFill>
                <a:latin typeface="Segoe UI"/>
              </a:rPr>
              <a:t>ISOLATED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   ·  </a:t>
            </a:r>
            <a:r>
              <a:rPr sz="1200" b="1" i="0" dirty="0">
                <a:solidFill>
                  <a:srgbClr val="605E5C"/>
                </a:solidFill>
                <a:latin typeface="Consolas"/>
              </a:rPr>
              <a:t>separate subscriptions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&amp; TeamB each own a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Own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each subscription gets its own per-region quota.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 starvation: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TeamA's spike can never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Real boundary: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subscriptions isolate quota, billing &amp; policy.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TeamA-sub   |   TeamB-sub   →   two separate quota pools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13248"/>
            <a:ext cx="10570464" cy="749808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Separate accounts isolate config &amp; RBAC blast radius — but not quota.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EA"/>
                </a:solidFill>
                <a:latin typeface="Segoe UI"/>
              </a:rPr>
              <a:t>To stop a TeamA spike starving TeamB, put the two teams in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separate subscriptions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 — the only boundary that isolates quota, billing &amp; policy.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B35BB76E-5B81-A1E2-E527-8BC11833E3CB}"/>
              </a:ext>
            </a:extLst>
          </p:cNvPr>
          <p:cNvSpPr/>
          <p:nvPr/>
        </p:nvSpPr>
        <p:spPr>
          <a:xfrm>
            <a:off x="4123944" y="2285999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RECOMMENDED TOPOLOGY · LANDING 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account per region, one project per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10607040" cy="56692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dirty="0">
                <a:solidFill>
                  <a:srgbClr val="243A5E"/>
                </a:solidFill>
                <a:latin typeface="Segoe UI"/>
              </a:rPr>
              <a:t>Subscription per team per environment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, a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Foundry account per region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 inside each, and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one project per app or initiative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31720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2414016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A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200400"/>
            <a:ext cx="2788920" cy="5486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 West Europe</a:t>
            </a:r>
          </a:p>
          <a:p>
            <a:pPr algn="l"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teama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6128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6128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6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6128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43400" y="3200400"/>
            <a:ext cx="2788920" cy="39241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</a:t>
            </a:r>
            <a:r>
              <a:rPr lang="en-US" sz="1050" dirty="0">
                <a:solidFill>
                  <a:srgbClr val="605E5C"/>
                </a:solidFill>
                <a:latin typeface="Segoe UI"/>
              </a:rPr>
              <a:t>West Europe </a:t>
            </a:r>
          </a:p>
          <a:p>
            <a:pPr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5312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5312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5312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8120" y="2331720"/>
            <a:ext cx="3730752" cy="3931920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46720" y="2468880"/>
            <a:ext cx="3273552" cy="329184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1250" b="1">
                <a:solidFill>
                  <a:srgbClr val="243A5E"/>
                </a:solidFill>
                <a:latin typeface="Segoe UI"/>
              </a:rPr>
              <a:t>BY THE NUMBERS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2907792"/>
            <a:ext cx="3273552" cy="224028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3</a:t>
            </a:r>
            <a:r>
              <a:rPr sz="1300" b="1">
                <a:solidFill>
                  <a:srgbClr val="243A5E"/>
                </a:solidFill>
                <a:latin typeface="Segoe UI"/>
              </a:rPr>
              <a:t>  environments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dev · test · prod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teams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TeamA · TeamB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6</a:t>
            </a:r>
            <a:r>
              <a:rPr sz="1300" b="1">
                <a:solidFill>
                  <a:srgbClr val="243A5E"/>
                </a:solidFill>
                <a:latin typeface="Segoe UI"/>
              </a:rPr>
              <a:t>  subscriptions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regions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West Europe · East US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12</a:t>
            </a:r>
            <a:r>
              <a:rPr sz="1300" b="1">
                <a:solidFill>
                  <a:srgbClr val="243A5E"/>
                </a:solidFill>
                <a:latin typeface="Segoe UI"/>
              </a:rPr>
              <a:t>  Foundry accounts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N</a:t>
            </a:r>
            <a:r>
              <a:rPr sz="1300" b="1">
                <a:solidFill>
                  <a:srgbClr val="243A5E"/>
                </a:solidFill>
                <a:latin typeface="Segoe UI"/>
              </a:rPr>
              <a:t>  projects each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chatbot, doc-search…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5440680"/>
            <a:ext cx="3273552" cy="7772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43A5E"/>
                </a:solidFill>
                <a:latin typeface="Segoe UI"/>
              </a:rPr>
              <a:t>Exactly Gislefoss’s account→project model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— one Bicep, stamped per (env × region × team). Each project holds its own agents, models &amp; connections.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77414-B4EC-5E7E-2E62-63FC6EAEA8E1}"/>
              </a:ext>
            </a:extLst>
          </p:cNvPr>
          <p:cNvSpPr txBox="1"/>
          <p:nvPr/>
        </p:nvSpPr>
        <p:spPr>
          <a:xfrm>
            <a:off x="4256532" y="2375499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PROMPT-AS-CODE ·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persona lives in git, not in Foundry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dirty="0">
                <a:solidFill>
                  <a:srgbClr val="0078D4"/>
                </a:solidFill>
                <a:latin typeface="Consolas"/>
              </a:rPr>
              <a:t>personas/</a:t>
            </a:r>
            <a:r>
              <a:rPr lang="nb-NO" sz="1500" b="1" dirty="0" err="1">
                <a:solidFill>
                  <a:srgbClr val="0078D4"/>
                </a:solidFill>
                <a:latin typeface="Consolas"/>
              </a:rPr>
              <a:t>myagent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.md</a:t>
            </a:r>
            <a:r>
              <a:rPr sz="1500" b="0" dirty="0">
                <a:solidFill>
                  <a:srgbClr val="605E5C"/>
                </a:solidFill>
                <a:latin typeface="Segoe UI"/>
              </a:rPr>
              <a:t> is the source of truth — Bicep pushes it into the agent on every deploy.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784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Version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Every change is a diff with author, date and message. Blame a regression; revert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360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Reviewed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Persona edits ship through a PR — a prompt change is a behaviour (and security) change worth a reviewer.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936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Single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Each deploy rebuilds the agent from git via Bicep loadTextContent. No repo-vs-runtime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84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Auditable &amp; 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An immutable trail of who changed the system prompt, and when — vital for an injection-hardened agent.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360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Reproducible anywhere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same file deploys to dev / test / prod and survives a resource rebuild. No portal-only state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936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936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Portable, not locked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persona — your IP — stays in your repo. Swap the backend without rewriting it in a vendor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5292A"/>
                </a:solidFill>
                <a:latin typeface="Segoe UI"/>
              </a:rPr>
              <a:t>Trade-off:  </a:t>
            </a:r>
            <a:r>
              <a:rPr sz="1250" b="0">
                <a:solidFill>
                  <a:srgbClr val="605E5C"/>
                </a:solidFill>
                <a:latin typeface="Segoe UI"/>
              </a:rPr>
              <a:t>a persona change needs a redeploy (no portal hot-edit) — a control for prod; iterate freely in a dev environment.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64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attached to a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model deployment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In Azure terms it is a </a:t>
            </a:r>
            <a:r>
              <a:rPr lang="nb-NO" sz="1500" b="1" dirty="0">
                <a:solidFill>
                  <a:srgbClr val="605E5C"/>
                </a:solidFill>
                <a:latin typeface="Segoe UI"/>
              </a:rPr>
              <a:t>RAI-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Policies resource; "</a:t>
            </a:r>
            <a:r>
              <a:rPr sz="1500" b="1" i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 dirty="0" err="1">
                <a:solidFill>
                  <a:srgbClr val="201F1E"/>
                </a:solidFill>
                <a:latin typeface="Segoe UI"/>
              </a:rPr>
              <a:t>raiPolicyName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73152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marL="109728" marR="73152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marL="109728" marR="73152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Why the </a:t>
            </a:r>
            <a:r>
              <a:rPr lang="nb-NO" sz="3000" b="1" dirty="0">
                <a:solidFill>
                  <a:srgbClr val="243A5E"/>
                </a:solidFill>
                <a:latin typeface="Segoe UI"/>
              </a:rPr>
              <a:t>an agent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37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answer ONLY </a:t>
            </a:r>
            <a:r>
              <a:rPr lang="nb-NO" sz="1700" b="0" dirty="0" err="1">
                <a:solidFill>
                  <a:srgbClr val="201F1E"/>
                </a:solidFill>
                <a:latin typeface="Segoe UI"/>
              </a:rPr>
              <a:t>targeted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keep every response clean — no toxic content in or out.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App code (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RunOutcomeInspector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, 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AgentReply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137160" bIns="13716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guardrail '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Microsoft.CognitiveServices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name: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guardrailName</a:t>
            </a:r>
            <a:endParaRPr sz="125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basePolicyName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contentFilters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// attached to the model deployment: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deployment '…/deployments@2024-10-01'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9CDCFE"/>
                </a:solidFill>
                <a:latin typeface="Consolas"/>
              </a:rPr>
              <a:t>  properties: { </a:t>
            </a:r>
            <a:r>
              <a:rPr sz="1250" dirty="0" err="1">
                <a:solidFill>
                  <a:srgbClr val="9CDCFE"/>
                </a:solidFill>
                <a:latin typeface="Consolas"/>
              </a:rPr>
              <a:t>raiPolicyName</a:t>
            </a:r>
            <a:r>
              <a:rPr sz="1250" dirty="0">
                <a:solidFill>
                  <a:srgbClr val="9CDCFE"/>
                </a:solidFill>
                <a:latin typeface="Consolas"/>
              </a:rPr>
              <a:t>: guardrail.name }   // every chat call runs the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DESIGN DECISION ·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memory would weaken the security posture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Every Gislefoss layer minimizes what an attacker can influence.  </a:t>
            </a:r>
            <a:r>
              <a:rPr sz="1600" b="1">
                <a:solidFill>
                  <a:srgbClr val="243A5E"/>
                </a:solidFill>
                <a:latin typeface="Segoe UI"/>
              </a:rPr>
              <a:t>Long-term memory does the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THE 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Minimize attacker influence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Persona in git · Prompt Shields · Guardrails · decline-everything-non-weather. Each layer shrinks what a user turn can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The opposite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A writable, persistent store the LLM fills from user input — re-opening exactly what the other layers work to close.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22191"/>
            <a:ext cx="10607040" cy="1024128"/>
          </a:xfrm>
          <a:prstGeom prst="roundRect">
            <a:avLst>
              <a:gd name="adj" fmla="val 4000"/>
            </a:avLst>
          </a:prstGeom>
          <a:solidFill>
            <a:srgbClr val="FDE7E9"/>
          </a:solidFill>
          <a:ln w="12700">
            <a:solidFill>
              <a:srgbClr val="F1B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822191"/>
            <a:ext cx="109728" cy="1024128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822191"/>
            <a:ext cx="10058400" cy="10241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01F1E"/>
                </a:solidFill>
                <a:latin typeface="Segoe UI"/>
              </a:rPr>
              <a:t>“Protect memory against threats such as prompt injection and memory corruption — incorrect or harmful data stored in the agent’s memory, potentially influencing agent responses.”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605E5C"/>
                </a:solidFill>
                <a:latin typeface="Segoe UI"/>
              </a:rPr>
              <a:t>— Microsoft Foundry docs, “What is Memory?”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92624"/>
            <a:ext cx="10607040" cy="1152144"/>
          </a:xfrm>
          <a:prstGeom prst="roundRect">
            <a:avLst>
              <a:gd name="adj" fmla="val 4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058400" cy="115214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A poisoned memory is a </a:t>
            </a:r>
            <a:r>
              <a:rPr sz="1900" b="1">
                <a:solidFill>
                  <a:srgbClr val="FF9A9C"/>
                </a:solidFill>
                <a:latin typeface="Segoe UI"/>
              </a:rPr>
              <a:t>persistent injection</a:t>
            </a:r>
            <a:r>
              <a:rPr sz="1900" b="1">
                <a:solidFill>
                  <a:srgbClr val="FFFFFF"/>
                </a:solidFill>
                <a:latin typeface="Segoe UI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7D6EA"/>
                </a:solidFill>
                <a:latin typeface="Segoe UI"/>
              </a:rPr>
              <a:t>It survives across sessions and re-enters the prompt every turn — turning a one-shot attack into a durable one. The one component an injection-hardened agent should not add.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DEFENCE IN DEPTH · MEMORY PATHWAY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Shield on memory I/O — the protection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The same Prompt Shields detector, called as a </a:t>
            </a:r>
            <a:r>
              <a:rPr sz="1500" b="1">
                <a:solidFill>
                  <a:srgbClr val="243A5E"/>
                </a:solidFill>
                <a:latin typeface="Segoe UI"/>
              </a:rPr>
              <a:t>standalone API</a:t>
            </a:r>
            <a:r>
              <a:rPr sz="1500" b="0">
                <a:solidFill>
                  <a:srgbClr val="605E5C"/>
                </a:solidFill>
                <a:latin typeface="Segoe UI"/>
              </a:rPr>
              <a:t> on the text moving in and out of the memory store.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243A5E"/>
                </a:solidFill>
                <a:latin typeface="Segoe UI"/>
              </a:rPr>
              <a:t>USER MESSAGE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write ·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243A5E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11496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32904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read ·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54312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54312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78D4"/>
                </a:solidFill>
                <a:latin typeface="Segoe UI"/>
              </a:rPr>
              <a:t>CHAT PROMPT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model input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46120"/>
            <a:ext cx="106070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Two checkpoints the attached guardrail can't reach on its own — before a memory is stored, and after it's retrieved.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39312"/>
            <a:ext cx="51206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THE CALL — Content Safety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639312"/>
            <a:ext cx="52120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READING THE VERDICT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950208"/>
            <a:ext cx="5120640" cy="2157984"/>
          </a:xfrm>
          <a:prstGeom prst="roundRect">
            <a:avLst>
              <a:gd name="adj" fmla="val 3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109728" bIns="109728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POST  …/text:shieldPrompt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"userPrompt": "…",         // write: new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"documents":  ["memory…"]  // read: retrieved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→  { "attackDetected": true | false 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drop on write  ·  strip on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50208"/>
            <a:ext cx="5212080" cy="21579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Same engine as your attached guardrail — here as a callable API.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One boolean to act on:  </a:t>
            </a:r>
            <a:r>
              <a:rPr sz="1250" b="0">
                <a:solidFill>
                  <a:srgbClr val="0078D4"/>
                </a:solidFill>
                <a:latin typeface="Consolas"/>
              </a:rPr>
              <a:t>attackDetected</a:t>
            </a:r>
            <a:r>
              <a:rPr sz="1250" b="0">
                <a:solidFill>
                  <a:srgbClr val="201F1E"/>
                </a:solidFill>
                <a:latin typeface="Segoe UI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Write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a candidate memory; drop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Read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retrieved items as </a:t>
            </a:r>
            <a:r>
              <a:rPr sz="1250" b="0">
                <a:solidFill>
                  <a:srgbClr val="0078D4"/>
                </a:solidFill>
                <a:latin typeface="Consolas"/>
              </a:rPr>
              <a:t>documents[]</a:t>
            </a:r>
            <a:r>
              <a:rPr sz="1250" b="0">
                <a:solidFill>
                  <a:srgbClr val="201F1E"/>
                </a:solidFill>
                <a:latin typeface="Segoe UI"/>
              </a:rPr>
              <a:t> (indirect attack); strip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Verdict and enforcement are yours — Content Safety only detects.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WHERE THE SHIELD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Memory I/O: inside vs. outside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Same control, two homes — decided by </a:t>
            </a:r>
            <a:r>
              <a:rPr sz="1500" b="1">
                <a:solidFill>
                  <a:srgbClr val="243A5E"/>
                </a:solidFill>
                <a:latin typeface="Segoe UI"/>
              </a:rPr>
              <a:t>how the agent uses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4572000" cy="221182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5C2D91"/>
                </a:solidFill>
                <a:latin typeface="Segoe UI"/>
              </a:rPr>
              <a:t>INSIDE THE </a:t>
            </a:r>
            <a:r>
              <a:rPr lang="en-US" sz="1400" b="1" dirty="0">
                <a:solidFill>
                  <a:srgbClr val="5C2D91"/>
                </a:solidFill>
                <a:latin typeface="Segoe UI"/>
              </a:rPr>
              <a:t>FOUNDRY</a:t>
            </a:r>
            <a:endParaRPr sz="1400" b="1" dirty="0">
              <a:solidFill>
                <a:srgbClr val="5C2D91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Memory search tool · server-side, managed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Foundry-managed loop — you never see the items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5C2D91"/>
                </a:solidFill>
                <a:latin typeface="Segoe UI"/>
              </a:rPr>
              <a:t>RAI policy on the memory chat model — Bicep / platform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t 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not 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You rely on: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the attached guardrail +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4572000" cy="201241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107C10"/>
                </a:solidFill>
                <a:latin typeface="Segoe UI"/>
              </a:rPr>
              <a:t>OUTSIDE THE </a:t>
            </a:r>
            <a:r>
              <a:rPr lang="en-US" sz="1400" b="1" dirty="0">
                <a:solidFill>
                  <a:srgbClr val="107C10"/>
                </a:solidFill>
                <a:latin typeface="Segoe UI"/>
              </a:rPr>
              <a:t>FOUNDRY</a:t>
            </a:r>
            <a:endParaRPr sz="1400" b="1" dirty="0">
              <a:solidFill>
                <a:srgbClr val="107C10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Low-level memory APIs · app-orchestrated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your Web container (the Container App)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explicit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shieldPrompt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() calls — your app code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yes — wrap every write &amp; read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available — full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defence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 in depth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Cost: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memory orchestration leaves Foundry — more app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40680"/>
            <a:ext cx="10607040" cy="777240"/>
          </a:xfrm>
          <a:prstGeom prst="roundRect">
            <a:avLst>
              <a:gd name="adj" fmla="val 6000"/>
            </a:avLst>
          </a:prstGeom>
          <a:solidFill>
            <a:srgbClr val="DEECF9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5440680"/>
            <a:ext cx="1005840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43A5E"/>
                </a:solidFill>
                <a:latin typeface="Segoe UI"/>
              </a:rPr>
              <a:t>Gislefoss runs its agent </a:t>
            </a:r>
            <a:r>
              <a:rPr sz="1350" b="1">
                <a:solidFill>
                  <a:srgbClr val="5C2D91"/>
                </a:solidFill>
                <a:latin typeface="Segoe UI"/>
              </a:rPr>
              <a:t>inside Foundry</a:t>
            </a:r>
            <a:r>
              <a:rPr sz="1350" b="0">
                <a:solidFill>
                  <a:srgbClr val="243A5E"/>
                </a:solidFill>
                <a:latin typeface="Segoe UI"/>
              </a:rPr>
              <a:t>  →  any memory protection would be </a:t>
            </a:r>
            <a:r>
              <a:rPr sz="1350" b="1">
                <a:solidFill>
                  <a:srgbClr val="5C2D91"/>
                </a:solidFill>
                <a:latin typeface="Segoe UI"/>
              </a:rPr>
              <a:t>platform-side (Bicep)</a:t>
            </a:r>
            <a:r>
              <a:rPr sz="1350" b="0">
                <a:solidFill>
                  <a:srgbClr val="243A5E"/>
                </a:solidFill>
                <a:latin typeface="Segoe UI"/>
              </a:rPr>
              <a:t>.  The agent is stateless today — </a:t>
            </a:r>
            <a:r>
              <a:rPr sz="1350" b="1">
                <a:solidFill>
                  <a:srgbClr val="107C10"/>
                </a:solidFill>
                <a:latin typeface="Segoe UI"/>
              </a:rPr>
              <a:t>no application change is needed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BUILT-IN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A managed memory subsystem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Turn it on and Foundry runs the whole pipeline server-side — no vector database to build or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1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EXTRACTION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chat model distils durable facts from each conversation — home city, preferred units.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2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2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CONSOLIDATION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Facts are merged, updated and de-duplicated over time; each write resets the item’s freshness clock.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7024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4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3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VECTOR STORAGE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Every memory is embedded and held in a managed vector store — no search service to run yourself.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34855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4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SEMANTIC RETRIEVAL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most relevant memories are recalled by meaning and added to the next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73168"/>
            <a:ext cx="10607040" cy="102412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773168"/>
            <a:ext cx="1005840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All four stages run inside Foundry’s managed loop.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7D6EA"/>
                </a:solidFill>
                <a:latin typeface="Segoe UI"/>
              </a:rPr>
              <a:t>You bring two model deployments; the platform does the extraction, vectorization, storage and recall. That same convenience is why the next slides treat memory as new attack surface.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TURN IT ON · OPERATIONS, COST &amp;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Size, cost, TTL &amp; the embedding dependency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Four decisions are yours before flipping deployMemory = true — the loop won’t make them for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SIZE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Items, not gigabytes.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≈ 10,000 memories per user-scope, ~1,000 req/min (reported · preview · unconfirmed; absent from the official quota doc). A weather bot stores a handful per user.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COST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Free in preview.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You pay only the chat + embedding tokens spent on extraction &amp; retrieval — no fixed memory fee. GA pricing not yet published.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1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RETENTION · TTL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Sliding, set at create time.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Reset on every update. ~90 days suits low-cadence weather use; 0 = never expires — unbounded PII, avoid.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EMBEDDING </a:t>
            </a:r>
            <a:r>
              <a:rPr lang="en-US" sz="1300" b="1">
                <a:solidFill>
                  <a:srgbClr val="C5292A"/>
                </a:solidFill>
                <a:latin typeface="Segoe UI"/>
              </a:rPr>
              <a:t>MODEL </a:t>
            </a:r>
            <a:r>
              <a:rPr sz="1300" b="1">
                <a:solidFill>
                  <a:srgbClr val="C5292A"/>
                </a:solidFill>
                <a:latin typeface="Segoe UI"/>
              </a:rPr>
              <a:t>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 dirty="0">
                <a:solidFill>
                  <a:srgbClr val="243A5E"/>
                </a:solidFill>
                <a:latin typeface="Segoe UI"/>
              </a:rPr>
              <a:t>Not built in — you bring 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dirty="0">
                <a:solidFill>
                  <a:srgbClr val="605E5C"/>
                </a:solidFill>
                <a:latin typeface="Segoe UI"/>
              </a:rPr>
              <a:t>Deploy your own embedding + chat model (e.g. text-embedding-3-small) and name both on the store.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Today Gislefoss sets deployMemory = false → the agent is stateless and memory costs nothing.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MEMORY FROM EXTERNAL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Use the memory store from your own host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The store is a project data-plane service — reachable from a Web App, Container App or AKS over REST/SDK with Entra auth.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EXTERNAL AGENTS · ANY HOST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Web App, Container App or AKS.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The memory store is a project data-plane resource, decoupled from where the agent runs. Call it over REST/SDK with a Microsoft Entra token (Foundry User role) — from AKS, via workload identity.</a:t>
            </a:r>
          </a:p>
        </p:txBody>
      </p:sp>
      <p:sp>
        <p:nvSpPr>
          <p:cNvPr id="11" name="Rounded Rectangle 8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9"/>
          <p:cNvSpPr txBox="1"/>
          <p:nvPr/>
        </p:nvSpPr>
        <p:spPr>
          <a:xfrm>
            <a:off x="6519672" y="240487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TWO WAYS TO CALL IT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Search tool, or low-level APIs.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Attach the memory_search tool to a Foundry prompt agent (auto extract + retrieve via the Responses API), or drive the store yourself: update_memories / search_memories / item CRUD, passing scope on every call.</a:t>
            </a:r>
          </a:p>
        </p:txBody>
      </p:sp>
      <p:sp>
        <p:nvSpPr>
          <p:cNvPr id="13" name="Rounded Rectangle 8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9"/>
          <p:cNvSpPr txBox="1"/>
          <p:nvPr/>
        </p:nvSpPr>
        <p:spPr>
          <a:xfrm>
            <a:off x="1033271" y="427939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LIMITATIONS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Public endpoint, explicit scope.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No VNet / Private Link for memory stores — public data-plane only. Low-level calls need an explicit scope (no identity auto-resolution). Preview: some store options are create-time only; poisoning defense is yours.</a:t>
            </a:r>
          </a:p>
        </p:txBody>
      </p:sp>
      <p:sp>
        <p:nvSpPr>
          <p:cNvPr id="15" name="Rounded Rectangle 8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9"/>
          <p:cNvSpPr txBox="1"/>
          <p:nvPr/>
        </p:nvSpPr>
        <p:spPr>
          <a:xfrm>
            <a:off x="6519672" y="427939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QUOTAS · MODEL 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Per store; bring your own models.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100 scopes / store · 10,000 memories / scope · 1,000 search/min · 1,000 update/min. Requires compatible Azure OpenAI chat + embedding deployments in the project — you pay for that usage.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Gislefoss's memory.bicep store is reachable from a Web App, Container App or AKS pod via the low-level APIs.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4109</Words>
  <Application>Microsoft Office PowerPoint</Application>
  <PresentationFormat>Widescreen</PresentationFormat>
  <Paragraphs>554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Mikael Chudinov</cp:lastModifiedBy>
  <cp:revision>29</cp:revision>
  <dcterms:created xsi:type="dcterms:W3CDTF">2013-01-27T09:14:16Z</dcterms:created>
  <dcterms:modified xsi:type="dcterms:W3CDTF">2026-06-18T12:31:30Z</dcterms:modified>
  <cp:category/>
</cp:coreProperties>
</file>