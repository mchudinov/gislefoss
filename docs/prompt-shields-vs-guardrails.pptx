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6" r:id="rId5"/>
    <p:sldId id="278" r:id="rId28"/>
    <p:sldId id="279" r:id="rId29"/>
    <p:sldId id="277" r:id="rId6"/>
    <p:sldId id="260" r:id="rId7"/>
    <p:sldId id="264" r:id="rId8"/>
    <p:sldId id="269" r:id="rId9"/>
    <p:sldId id="262" r:id="rId10"/>
    <p:sldId id="263" r:id="rId11"/>
    <p:sldId id="259" r:id="rId12"/>
    <p:sldId id="261" r:id="rId13"/>
    <p:sldId id="268" r:id="rId14"/>
    <p:sldId id="271" r:id="rId15"/>
    <p:sldId id="272" r:id="rId16"/>
    <p:sldId id="270" r:id="rId17"/>
    <p:sldId id="265" r:id="rId18"/>
    <p:sldId id="266" r:id="rId19"/>
    <p:sldId id="267" r:id="rId20"/>
    <p:sldId id="274" r:id="rId21"/>
    <p:sldId id="275" r:id="rId22"/>
    <p:sldId id="273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65" d="100"/>
          <a:sy n="165" d="100"/>
        </p:scale>
        <p:origin x="100" y="4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3.xml"/><Relationship Id="rId29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352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097280"/>
            <a:ext cx="1051560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AZURE AI FOUNDRY · LAYERED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10058400" cy="21945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Prompt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8AB9E8"/>
                </a:solidFill>
                <a:latin typeface="Segoe UI"/>
              </a:rPr>
              <a:t>vs.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9601200" cy="914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How the two layers protect the Gislefoss Meteorologist agent 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and why a shield is one detector </a:t>
            </a:r>
            <a:r>
              <a:rPr sz="1800" b="1">
                <a:solidFill>
                  <a:srgbClr val="FFFFFF"/>
                </a:solidFill>
                <a:latin typeface="Segoe UI"/>
              </a:rPr>
              <a:t>inside</a:t>
            </a:r>
            <a:r>
              <a:rPr sz="1800" b="0">
                <a:solidFill>
                  <a:srgbClr val="C7D6EA"/>
                </a:solidFill>
                <a:latin typeface="Segoe UI"/>
              </a:rPr>
              <a:t> the guardrail, not a sibling of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>
                <a:solidFill>
                  <a:srgbClr val="0078D4"/>
                </a:solidFill>
                <a:latin typeface="Consolas"/>
              </a:rPr>
              <a:t>aif-gislefoss-prod</a:t>
            </a:r>
            <a:r>
              <a:rPr sz="1500" b="0">
                <a:solidFill>
                  <a:srgbClr val="605E5C"/>
                </a:solidFill>
                <a:latin typeface="Segoe UI"/>
              </a:rPr>
              <a:t> 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10607040" cy="3364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aif-gislefoss-prod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proj-gislefoss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oai-gislefoss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ais-gislefoss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srch-gislefoss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cs-gislefoss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hub-gislefoss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504688"/>
            <a:ext cx="10607040" cy="786384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577840"/>
            <a:ext cx="10241280" cy="65836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Sub-resources have no CAF abbreviation — name them descriptively:  </a:t>
            </a:r>
            <a:r>
              <a:rPr sz="1250" b="0">
                <a:solidFill>
                  <a:srgbClr val="605E5C"/>
                </a:solidFill>
                <a:latin typeface="Segoe UI"/>
              </a:rPr>
              <a:t>model deployment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chat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RAI policy (guardrail)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gislefossguardrail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capability host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…-caphost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IDENTITY &amp; ACCESS · LEAST PRIVILEGE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Foundry RBAC — roles &amp; access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Assign at the </a:t>
            </a:r>
            <a:r>
              <a:rPr sz="1500" b="1">
                <a:solidFill>
                  <a:srgbClr val="243A5E"/>
                </a:solidFill>
                <a:latin typeface="Segoe UI"/>
              </a:rPr>
              <a:t>Foundry resource scope</a:t>
            </a:r>
            <a:r>
              <a:rPr sz="1500" b="0">
                <a:solidFill>
                  <a:srgbClr val="605E5C"/>
                </a:solidFill>
                <a:latin typeface="Segoe UI"/>
              </a:rPr>
              <a:t>.  Separate the identity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authors</a:t>
            </a:r>
            <a:r>
              <a:rPr sz="1500" b="0">
                <a:solidFill>
                  <a:srgbClr val="605E5C"/>
                </a:solidFill>
                <a:latin typeface="Segoe UI"/>
              </a:rPr>
              <a:t> the agent from the one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runs</a:t>
            </a:r>
            <a:r>
              <a:rPr sz="1500" b="0">
                <a:solidFill>
                  <a:srgbClr val="605E5C"/>
                </a:solidFill>
                <a:latin typeface="Segoe UI"/>
              </a:rPr>
              <a:t>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11680"/>
          <a:ext cx="106070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grants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Inference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Create / manage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Least-privilege build &amp; use (data actions)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projects + publish agents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account, deploy models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Full self-serve — build + manage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4498848"/>
            <a:ext cx="10607040" cy="1810512"/>
          </a:xfrm>
          <a:prstGeom prst="roundRect">
            <a:avLst>
              <a:gd name="adj" fmla="val 4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572000"/>
            <a:ext cx="10149840" cy="16642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Gislefoss split RBAC — author ≠ runtime: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Provisioner identity (UAMI) authors &amp; publishes the agent  →  </a:t>
            </a:r>
            <a:r>
              <a:rPr sz="1300" b="1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sz="1300" b="1">
                <a:solidFill>
                  <a:srgbClr val="0078D4"/>
                </a:solidFill>
                <a:latin typeface="Segoe UI"/>
              </a:rPr>
              <a:t>Foundry User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5292A"/>
                </a:solidFill>
                <a:latin typeface="Segoe UI"/>
              </a:rPr>
              <a:t>⚠  Bicep today grants Azure AI Developer + Cognitive Services User — Microsoft now scopes those away from Foundry agents; migrate to the roles above.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05E5C"/>
                </a:solidFill>
                <a:latin typeface="Consolas"/>
              </a:rPr>
              <a:t>Role IDs:  Foundry Project Manager eadc314b-1a2d-4efa-be10-5d325db5065e  ·  Foundry User 53ca6127-db72-4b80-b1b0-d745d6d5456d.  Renamed Jun 2026 (ex Azure AI Project Manager / Azure AI User).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MODEL DEPLOYMENT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Where your inferencing data is processed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Inferencing</a:t>
            </a:r>
            <a:r>
              <a:rPr lang="nb-NO" sz="1600" b="0" dirty="0">
                <a:solidFill>
                  <a:srgbClr val="605E5C"/>
                </a:solidFill>
                <a:latin typeface="Segoe UI"/>
              </a:rPr>
              <a:t> data - </a:t>
            </a:r>
            <a:r>
              <a:rPr lang="ru-RU" sz="1600" dirty="0"/>
              <a:t>data used during a model call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605E5C"/>
                </a:solidFill>
                <a:latin typeface="Segoe UI"/>
              </a:rPr>
              <a:t>Deployment type — not region — decides which datacenters may run your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GLOBAL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GlobalStandard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Any eligible Azure region, worldwide.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Highest default quota; broadest model choice.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Receives new models &amp; features first.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Inference may run in any Azure region, globally.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EECF9"/>
          </a:solidFill>
          <a:ln w="1016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078D4"/>
                </a:solidFill>
                <a:latin typeface="Segoe UI"/>
              </a:rPr>
              <a:t>✓  Gislefoss uses this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DATA ZONE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DataZoneStandard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Within a chosen data zone — US or EU.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Processing stays inside the zone boundary.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EU zone = EU Data Boundary (Sweden, Norway…).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Higher quota than single-region Standard.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FF6DD"/>
          </a:solidFill>
          <a:ln w="1016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07C10"/>
                </a:solidFill>
                <a:latin typeface="Segoe UI"/>
              </a:rPr>
              <a:t>→  Pick this for EU data residency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39512"/>
            <a:ext cx="10607040" cy="868680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294375"/>
            <a:ext cx="10058400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Data at rest always stays in your Azure geography </a:t>
            </a:r>
            <a:r>
              <a:rPr sz="1350" b="0">
                <a:solidFill>
                  <a:srgbClr val="C7D6EA"/>
                </a:solidFill>
                <a:latin typeface="Segoe UI"/>
              </a:rPr>
              <a:t>— only the processing location changes.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C7D6EA"/>
                </a:solidFill>
                <a:latin typeface="Segoe UI"/>
              </a:rPr>
              <a:t>Gislefoss runs gpt-4o as </a:t>
            </a:r>
            <a:r>
              <a:rPr sz="1200" b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>
                <a:solidFill>
                  <a:srgbClr val="C7D6EA"/>
                </a:solidFill>
                <a:latin typeface="Segoe UI"/>
              </a:rPr>
              <a:t> from Sweden Central — an EU-boundary region — yet inference can still leave the EU.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CHOOSING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Which deployment type, when?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Match it to your stage — and to whether processing must stay in a data boundary.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106070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Colour = where inference runs:    </a:t>
            </a:r>
            <a:r>
              <a:rPr sz="1100" b="1" i="0">
                <a:solidFill>
                  <a:srgbClr val="0078D4"/>
                </a:solidFill>
                <a:latin typeface="Segoe UI"/>
              </a:rPr>
              <a:t>Global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any region        </a:t>
            </a:r>
            <a:r>
              <a:rPr sz="1100" b="1" i="0">
                <a:solidFill>
                  <a:srgbClr val="107C10"/>
                </a:solidFill>
                <a:latin typeface="Segoe UI"/>
              </a:rPr>
              <a:t>Data Zone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US or EU zone        </a:t>
            </a:r>
            <a:r>
              <a:rPr sz="1100" b="1" i="0">
                <a:solidFill>
                  <a:srgbClr val="5C2D91"/>
                </a:solidFill>
                <a:latin typeface="Segoe UI"/>
              </a:rPr>
              <a:t>Regional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one region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77240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PROTOTYPE / LOW 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for EU enterprise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no data-boundary requirement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7408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407408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PRODUCTION / HIGH VOLUME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 enterprise default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global processing is acceptable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5C2D91"/>
                </a:solidFill>
                <a:latin typeface="Segoe UI"/>
              </a:rPr>
              <a:t>Regional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exact-region compliance is required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28431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OFFLINE /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cheapest/flexible bulk processing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EU/US bounded bulk processing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852160"/>
            <a:ext cx="10607040" cy="47548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38100" rIns="127000" bIns="38100" rtlCol="0" anchor="ctr"/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Gislefoss today: a prototype on </a:t>
            </a:r>
            <a:r>
              <a:rPr sz="1050" b="0" i="0">
                <a:solidFill>
                  <a:srgbClr val="C7D6EA"/>
                </a:solidFill>
                <a:latin typeface="Consolas"/>
              </a:rPr>
              <a:t>GlobalStandard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.   EU-residency path → </a:t>
            </a:r>
            <a:r>
              <a:rPr sz="1050" b="0" i="0">
                <a:solidFill>
                  <a:srgbClr val="C7D6EA"/>
                </a:solidFill>
                <a:latin typeface="Consolas"/>
              </a:rPr>
              <a:t>DataZoneStandard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 now, </a:t>
            </a:r>
            <a:r>
              <a:rPr sz="1050" b="0" i="0">
                <a:solidFill>
                  <a:srgbClr val="C7D6EA"/>
                </a:solidFill>
                <a:latin typeface="Consolas"/>
              </a:rPr>
              <a:t>DataZoneProvisionedManaged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 at production scale.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persona 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Consolas"/>
              </a:rPr>
              <a:t>personas/gislefoss.md</a:t>
            </a:r>
            <a:r>
              <a:rPr sz="1500" b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64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attached to a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model deployment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In Azure terms it is a </a:t>
            </a:r>
            <a:r>
              <a:rPr lang="nb-NO" sz="1500" b="1" dirty="0">
                <a:solidFill>
                  <a:srgbClr val="605E5C"/>
                </a:solidFill>
                <a:latin typeface="Segoe UI"/>
              </a:rPr>
              <a:t>RAI-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Policies resource; "</a:t>
            </a:r>
            <a:r>
              <a:rPr sz="1500" b="1" i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 dirty="0" err="1">
                <a:solidFill>
                  <a:srgbClr val="201F1E"/>
                </a:solidFill>
                <a:latin typeface="Segoe UI"/>
              </a:rPr>
              <a:t>raiPolicyName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73152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marL="109728" marR="73152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marL="109728" marR="73152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Why the </a:t>
            </a:r>
            <a:r>
              <a:rPr lang="nb-NO" sz="3000" b="1" dirty="0">
                <a:solidFill>
                  <a:srgbClr val="243A5E"/>
                </a:solidFill>
                <a:latin typeface="Segoe UI"/>
              </a:rPr>
              <a:t>an agent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37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answer ONLY </a:t>
            </a:r>
            <a:r>
              <a:rPr lang="nb-NO" sz="1700" b="0" dirty="0" err="1">
                <a:solidFill>
                  <a:srgbClr val="201F1E"/>
                </a:solidFill>
                <a:latin typeface="Segoe UI"/>
              </a:rPr>
              <a:t>targeted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keep every response clean — no toxic content in or out.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App code (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RunOutcomeInspector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, 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AgentReply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Caveats &amp; deploy-verify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Filter names are unverified: </a:t>
            </a:r>
            <a:r>
              <a:rPr sz="1700" b="0">
                <a:solidFill>
                  <a:srgbClr val="201F1E"/>
                </a:solidFill>
                <a:latin typeface="Segoe UI"/>
              </a:rPr>
              <a:t>'Jailbreak' and 'Indirect Attack' carry // [verify name] markers.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Confirm the exact RAI filter strings against the live API on first real deploy.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Guardrail is attached, not optional: </a:t>
            </a:r>
            <a:r>
              <a:rPr sz="1700" b="0">
                <a:solidFill>
                  <a:srgbClr val="201F1E"/>
                </a:solidFill>
                <a:latin typeface="Segoe UI"/>
              </a:rPr>
              <a:t>it rides on the chat deployment via raiPolicyName.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Shields are input-side: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they won't catch a harmful COMPLETION — that's the harm filters' job.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Defence in depth: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 persona/system prompt is a third layer above both — not a substitute.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137160" bIns="13716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guardrail '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Microsoft.CognitiveServices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name: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guardrailName</a:t>
            </a:r>
            <a:endParaRPr sz="125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basePolicyName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contentFilters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9CDCFE"/>
                </a:solidFill>
                <a:latin typeface="Consolas"/>
              </a:rPr>
              <a:t>  properties: { </a:t>
            </a:r>
            <a:r>
              <a:rPr sz="1250" dirty="0" err="1">
                <a:solidFill>
                  <a:srgbClr val="9CDCFE"/>
                </a:solidFill>
                <a:latin typeface="Consolas"/>
              </a:rPr>
              <a:t>raiPolicyName</a:t>
            </a:r>
            <a:r>
              <a:rPr sz="1250" dirty="0">
                <a:solidFill>
                  <a:srgbClr val="9CDCFE"/>
                </a:solidFill>
                <a:latin typeface="Consolas"/>
              </a:rPr>
              <a:t>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DESIGN DECISION ·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memory would weaken the security posture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Every Gislefoss layer minimizes what an attacker can influence.  </a:t>
            </a:r>
            <a:r>
              <a:rPr sz="1600" b="1">
                <a:solidFill>
                  <a:srgbClr val="243A5E"/>
                </a:solidFill>
                <a:latin typeface="Segoe UI"/>
              </a:rPr>
              <a:t>Long-term memory does the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THE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Minimize attacker influence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Persona in git · Prompt Shields · Guardrails · decline-everything-non-weather. Each layer shrinks what a user turn can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The opposite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A writable, persistent store the LLM fills from user input — re-opening exactly what the other layers work to close.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22191"/>
            <a:ext cx="10607040" cy="1024128"/>
          </a:xfrm>
          <a:prstGeom prst="roundRect">
            <a:avLst>
              <a:gd name="adj" fmla="val 4000"/>
            </a:avLst>
          </a:prstGeom>
          <a:solidFill>
            <a:srgbClr val="FDE7E9"/>
          </a:solidFill>
          <a:ln w="12700">
            <a:solidFill>
              <a:srgbClr val="F1B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822191"/>
            <a:ext cx="109728" cy="1024128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22191"/>
            <a:ext cx="10058400" cy="10241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01F1E"/>
                </a:solidFill>
                <a:latin typeface="Segoe UI"/>
              </a:rPr>
              <a:t>“Protect memory against threats such as prompt injection and memory corruption — incorrect or harmful data stored in the agent’s memory, potentially influencing agent responses.”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605E5C"/>
                </a:solidFill>
                <a:latin typeface="Segoe UI"/>
              </a:rPr>
              <a:t>— Microsoft Foundry docs, “What is Memory?”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92624"/>
            <a:ext cx="10607040" cy="1152144"/>
          </a:xfrm>
          <a:prstGeom prst="roundRect">
            <a:avLst>
              <a:gd name="adj" fmla="val 4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058400" cy="115214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A poisoned memory is a </a:t>
            </a:r>
            <a:r>
              <a:rPr sz="1900" b="1">
                <a:solidFill>
                  <a:srgbClr val="FF9A9C"/>
                </a:solidFill>
                <a:latin typeface="Segoe UI"/>
              </a:rPr>
              <a:t>persistent injection</a:t>
            </a:r>
            <a:r>
              <a:rPr sz="1900" b="1">
                <a:solidFill>
                  <a:srgbClr val="FFFFFF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7D6EA"/>
                </a:solidFill>
                <a:latin typeface="Segoe UI"/>
              </a:rPr>
              <a:t>It survives across sessions and re-enters the prompt every turn — turning a one-shot attack into a durable one. The one component an injection-hardened agent should not add.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DEFENCE IN DEPTH · MEMORY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Shield on memory I/O — the protection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The same Prompt Shields detector, called as a </a:t>
            </a:r>
            <a:r>
              <a:rPr sz="1500" b="1">
                <a:solidFill>
                  <a:srgbClr val="243A5E"/>
                </a:solidFill>
                <a:latin typeface="Segoe UI"/>
              </a:rPr>
              <a:t>standalone API</a:t>
            </a:r>
            <a:r>
              <a:rPr sz="1500" b="0">
                <a:solidFill>
                  <a:srgbClr val="605E5C"/>
                </a:solidFill>
                <a:latin typeface="Segoe UI"/>
              </a:rPr>
              <a:t> on the text moving in and out of the memory store.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243A5E"/>
                </a:solidFill>
                <a:latin typeface="Segoe UI"/>
              </a:rPr>
              <a:t>USER MESSAGE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write ·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243A5E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11496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32904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read ·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54312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312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78D4"/>
                </a:solidFill>
                <a:latin typeface="Segoe UI"/>
              </a:rPr>
              <a:t>CHAT PROMPT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model 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106070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Two checkpoints the attached guardrail can't reach on its own — before a memory is stored, and after it's retrieved.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39312"/>
            <a:ext cx="51206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THE CALL — Content Safety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639312"/>
            <a:ext cx="52120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READING THE VERDICT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950208"/>
            <a:ext cx="5120640" cy="2157984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109728" bIns="109728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POST  …/text:shieldPrompt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"userPrompt": "…",         // write: new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"documents":  ["memory…"]  // read: retrieved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→  { "attackDetected": true | false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drop on write  ·  strip on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50208"/>
            <a:ext cx="5212080" cy="21579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Same engine as your attached guardrail — here as a callable API.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One boolean to act on:  </a:t>
            </a:r>
            <a:r>
              <a:rPr sz="1250" b="0">
                <a:solidFill>
                  <a:srgbClr val="0078D4"/>
                </a:solidFill>
                <a:latin typeface="Consolas"/>
              </a:rPr>
              <a:t>attackDetected</a:t>
            </a:r>
            <a:r>
              <a:rPr sz="1250" b="0">
                <a:solidFill>
                  <a:srgbClr val="201F1E"/>
                </a:solidFill>
                <a:latin typeface="Segoe U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Write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a candidate memory; drop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Read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retrieved items as </a:t>
            </a:r>
            <a:r>
              <a:rPr sz="1250" b="0">
                <a:solidFill>
                  <a:srgbClr val="0078D4"/>
                </a:solidFill>
                <a:latin typeface="Consolas"/>
              </a:rPr>
              <a:t>documents[]</a:t>
            </a:r>
            <a:r>
              <a:rPr sz="1250" b="0">
                <a:solidFill>
                  <a:srgbClr val="201F1E"/>
                </a:solidFill>
                <a:latin typeface="Segoe UI"/>
              </a:rPr>
              <a:t> (indirect attack); strip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Verdict and enforcement are yours — Content Safety only detects.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WHERE THE SHIELD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Memory I/O: inside vs. outside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Same control, two homes — decided by </a:t>
            </a:r>
            <a:r>
              <a:rPr sz="1500" b="1">
                <a:solidFill>
                  <a:srgbClr val="243A5E"/>
                </a:solidFill>
                <a:latin typeface="Segoe UI"/>
              </a:rPr>
              <a:t>how the agent uses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572000" cy="221182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5C2D91"/>
                </a:solidFill>
                <a:latin typeface="Segoe UI"/>
              </a:rPr>
              <a:t>INSIDE THE </a:t>
            </a:r>
            <a:r>
              <a:rPr lang="en-US" sz="1400" b="1" dirty="0">
                <a:solidFill>
                  <a:srgbClr val="5C2D91"/>
                </a:solidFill>
                <a:latin typeface="Segoe UI"/>
              </a:rPr>
              <a:t>FOUNDRY</a:t>
            </a:r>
            <a:endParaRPr sz="1400" b="1" dirty="0">
              <a:solidFill>
                <a:srgbClr val="5C2D91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Memory search tool · server-side, managed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Foundry-managed loop — you never see the items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5C2D91"/>
                </a:solidFill>
                <a:latin typeface="Segoe UI"/>
              </a:rPr>
              <a:t>RAI policy on the memory chat model — Bicep / platform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t 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not 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You rely on: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the attached guardrail +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572000" cy="201241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107C10"/>
                </a:solidFill>
                <a:latin typeface="Segoe UI"/>
              </a:rPr>
              <a:t>OUTSIDE THE </a:t>
            </a:r>
            <a:r>
              <a:rPr lang="en-US" sz="1400" b="1" dirty="0">
                <a:solidFill>
                  <a:srgbClr val="107C10"/>
                </a:solidFill>
                <a:latin typeface="Segoe UI"/>
              </a:rPr>
              <a:t>FOUNDRY</a:t>
            </a:r>
            <a:endParaRPr sz="1400" b="1" dirty="0">
              <a:solidFill>
                <a:srgbClr val="107C10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Low-level memory APIs · app-orchestrated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your Web container (the Container App)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explicit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shieldPrompt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() calls — your app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yes — wrap every write &amp; 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available — full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defence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 in depth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Cost: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memory orchestration leaves Foundry — more app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40680"/>
            <a:ext cx="10607040" cy="777240"/>
          </a:xfrm>
          <a:prstGeom prst="roundRect">
            <a:avLst>
              <a:gd name="adj" fmla="val 6000"/>
            </a:avLst>
          </a:prstGeom>
          <a:solidFill>
            <a:srgbClr val="DEECF9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440680"/>
            <a:ext cx="100584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43A5E"/>
                </a:solidFill>
                <a:latin typeface="Segoe UI"/>
              </a:rPr>
              <a:t>Gislefoss runs its agent </a:t>
            </a:r>
            <a:r>
              <a:rPr sz="1350" b="1">
                <a:solidFill>
                  <a:srgbClr val="5C2D91"/>
                </a:solidFill>
                <a:latin typeface="Segoe UI"/>
              </a:rPr>
              <a:t>inside Foundry</a:t>
            </a:r>
            <a:r>
              <a:rPr sz="1350" b="0">
                <a:solidFill>
                  <a:srgbClr val="243A5E"/>
                </a:solidFill>
                <a:latin typeface="Segoe UI"/>
              </a:rPr>
              <a:t>  →  any memory protection would be </a:t>
            </a:r>
            <a:r>
              <a:rPr sz="1350" b="1">
                <a:solidFill>
                  <a:srgbClr val="5C2D91"/>
                </a:solidFill>
                <a:latin typeface="Segoe UI"/>
              </a:rPr>
              <a:t>platform-side (Bicep)</a:t>
            </a:r>
            <a:r>
              <a:rPr sz="1350" b="0">
                <a:solidFill>
                  <a:srgbClr val="243A5E"/>
                </a:solidFill>
                <a:latin typeface="Segoe UI"/>
              </a:rPr>
              <a:t>.  The agent is stateless today — </a:t>
            </a:r>
            <a:r>
              <a:rPr sz="1350" b="1">
                <a:solidFill>
                  <a:srgbClr val="107C10"/>
                </a:solidFill>
                <a:latin typeface="Segoe UI"/>
              </a:rPr>
              <a:t>no application change is needed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BUILT-IN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managed memory subsystem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Turn it on and Foundry runs the whole pipeline server-side — no vector database to build or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1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EXTRACTION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chat model distils durable facts from each conversation — home city, preferred units.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2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2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CONSOLIDATION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Facts are merged, updated and de-duplicated over time; each write resets the item’s freshness clock.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4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3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VECTOR STORAGE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Every memory is embedded and held in a managed vector store — no search service to run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34855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4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SEMANTIC RETRIEVAL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most relevant memories are recalled by meaning and added to the next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73168"/>
            <a:ext cx="10607040" cy="102412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773168"/>
            <a:ext cx="1005840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All four stages run inside Foundry’s managed loop.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7D6EA"/>
                </a:solidFill>
                <a:latin typeface="Segoe UI"/>
              </a:rPr>
              <a:t>You bring two model deployments; the platform does the extraction, vectorization, storage and recall. That same convenience is why the next slides treat memory as new attack surface.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TURN IT ON · OPERATIONS, COST &amp;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Size, cost, TTL &amp; the embedding dependency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Four decisions are yours before flipping deployMemory = true — the loop won’t make them for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SIZE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Items, not gigabytes.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≈ 10,000 memories per user-scope, ~1,000 req/min (reported · preview · unconfirmed; absent from the official quota doc). A weather bot stores a handful per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COST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Free in preview.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You pay only the chat + embedding tokens spent on extraction &amp; retrieval — no fixed memory fee. GA pricing not yet published.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1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RETENTION · TTL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Sliding, set at create time.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Reset on every update. ~90 days suits low-cadence weather use; 0 = never expires — unbounded PII, avoid.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EMBEDDING </a:t>
            </a:r>
            <a:r>
              <a:rPr lang="en-US" sz="1300" b="1">
                <a:solidFill>
                  <a:srgbClr val="C5292A"/>
                </a:solidFill>
                <a:latin typeface="Segoe UI"/>
              </a:rPr>
              <a:t>MODEL </a:t>
            </a:r>
            <a:r>
              <a:rPr sz="1300" b="1">
                <a:solidFill>
                  <a:srgbClr val="C5292A"/>
                </a:solidFill>
                <a:latin typeface="Segoe UI"/>
              </a:rPr>
              <a:t>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 dirty="0">
                <a:solidFill>
                  <a:srgbClr val="243A5E"/>
                </a:solidFill>
                <a:latin typeface="Segoe UI"/>
              </a:rPr>
              <a:t>Not built in — you bring 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dirty="0">
                <a:solidFill>
                  <a:srgbClr val="605E5C"/>
                </a:solidFill>
                <a:latin typeface="Segoe UI"/>
              </a:rPr>
              <a:t>Deploy your own embedding + chat model (e.g. text-embedding-3-small) and name both on the store.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Today Gislefoss sets deployMemory = false → the agent is stateless and memory costs nothing.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1051560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Three things to remember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49631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Containment, not rivalry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A Prompt Shield is one detector inside the guardrail (RAI policy) — not a competing feature.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56616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61188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Content vs. intent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Guardrail harm filters catch toxic CONTENT; shields catch adversarial INTENT (hijacking).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14807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93776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Both, platform-side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The Meteorologist needs both, and in Gislefoss they live in foundry.bicep — not in app code.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ANATOMY OF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Every deployment type is two choices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Pick how you pay and where data is processed — the two combine into one SKU.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304288"/>
            <a:ext cx="187451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2304288"/>
            <a:ext cx="1783079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243A5E"/>
                </a:solidFill>
                <a:latin typeface="Segoe UI"/>
              </a:rPr>
              <a:t>deployment type =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605E5C"/>
                </a:solidFill>
                <a:latin typeface="Segoe UI"/>
              </a:rPr>
              <a:t>↓ how you pay   → where it runs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0632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70632" y="2304288"/>
            <a:ext cx="277977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GLOBAL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any Azure region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107C10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0" y="2304288"/>
            <a:ext cx="277977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DATA ZONE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US or EU zone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67928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5C2D91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67928" y="2304288"/>
            <a:ext cx="277977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REGIONAL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one region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2962656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2962656"/>
            <a:ext cx="1874519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pay-per-token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4096512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096512"/>
            <a:ext cx="1874519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PROVISIONED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reserved PTU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70632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DEECF9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70632" y="2962656"/>
            <a:ext cx="2779776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GlobalStandard</a:t>
            </a:r>
          </a:p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</a:rPr>
              <a:t>Gislefoss today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0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0" y="2962656"/>
            <a:ext cx="2779776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US or EU zone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67928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67928" y="2962656"/>
            <a:ext cx="2779776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70632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70632" y="4096512"/>
            <a:ext cx="2779776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global + reserved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0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0" y="4096512"/>
            <a:ext cx="2779776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zone + reserved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67928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67928" y="4096512"/>
            <a:ext cx="2779776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 + reserved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230368"/>
            <a:ext cx="10570464" cy="786384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5230368"/>
            <a:ext cx="10570464" cy="786384"/>
          </a:xfrm>
          <a:prstGeom prst="rect">
            <a:avLst/>
          </a:prstGeom>
          <a:noFill/>
        </p:spPr>
        <p:txBody>
          <a:bodyPr wrap="square" anchor="ctr" lIns="177800" rIns="177800" tIns="76200" bIns="762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One SKU = one cell of this grid.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EA"/>
                </a:solidFill>
                <a:latin typeface="Segoe UI"/>
              </a:rPr>
              <a:t>Gislefoss =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.   Plus a Batch flavor (</a:t>
            </a:r>
            <a:r>
              <a:rPr sz="1200" b="0" i="0">
                <a:solidFill>
                  <a:srgbClr val="C7D6EA"/>
                </a:solidFill>
                <a:latin typeface="Consolas"/>
              </a:rPr>
              <a:t>GlobalBatch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 · </a:t>
            </a:r>
            <a:r>
              <a:rPr sz="1200" b="0" i="0">
                <a:solidFill>
                  <a:srgbClr val="C7D6EA"/>
                </a:solidFill>
                <a:latin typeface="Consolas"/>
              </a:rPr>
              <a:t>DataZoneBatch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) for async bulk processing.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THE BILLING 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Standard vs Provisioned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Pay-per-token elasticity, or reserved capacity with guaranteed throughput.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STANDARD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pay-per-token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Pay only for the tokens you use.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per-token consumption — no commitment.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best-effort TPM quota; nothing reserved.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variable; no throughput SLA.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cost scales to zero when unused.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bursty, low–medium volume, prototypes.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Standard · DataZoneStandard · GlobalStandard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C2D91"/>
                </a:solidFill>
                <a:latin typeface="Segoe UI"/>
              </a:rPr>
              <a:t>PROVISIONED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reserved PTU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Reserve capacity in PTUs up front.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fixed reserved capacity — pay used or not.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guaranteed throughput; minimum PTU.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low and consistent — SLA-backed.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always-on cost; built for steady scale.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consistent, high, predictable volume.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ProvisionedManaged · DataZoneProvisionedManaged · GlobalProvisionedManaged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413248"/>
            <a:ext cx="10570464" cy="749808"/>
          </a:xfrm>
          <a:prstGeom prst="rect">
            <a:avLst/>
          </a:prstGeom>
          <a:noFill/>
        </p:spPr>
        <p:txBody>
          <a:bodyPr wrap="square" anchor="ctr" lIns="177800" rIns="177800" tIns="76200" bIns="762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Prompt caching pays off either way — partial discount on Standard, up to 100% off cached input on Provisioned.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EA"/>
                </a:solidFill>
                <a:latin typeface="Segoe UI"/>
              </a:rPr>
              <a:t>Gislefoss runs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 today; the production EU path is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DataZoneProvisionedManaged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3093</Words>
  <Application>Microsoft Office PowerPoint</Application>
  <PresentationFormat>Widescreen</PresentationFormat>
  <Paragraphs>411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Mikael Chudinov</cp:lastModifiedBy>
  <cp:revision>8</cp:revision>
  <dcterms:created xsi:type="dcterms:W3CDTF">2013-01-27T09:14:16Z</dcterms:created>
  <dcterms:modified xsi:type="dcterms:W3CDTF">2026-06-16T09:16:34Z</dcterms:modified>
  <cp:category/>
</cp:coreProperties>
</file>