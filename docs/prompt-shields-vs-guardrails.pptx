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57" r:id="rId4"/>
    <p:sldId id="286" r:id="rId5"/>
    <p:sldId id="289" r:id="rId6"/>
    <p:sldId id="287" r:id="rId7"/>
    <p:sldId id="281" r:id="rId8"/>
    <p:sldId id="285" r:id="rId9"/>
    <p:sldId id="278" r:id="rId10"/>
    <p:sldId id="276" r:id="rId11"/>
    <p:sldId id="279" r:id="rId12"/>
    <p:sldId id="277" r:id="rId13"/>
    <p:sldId id="282" r:id="rId14"/>
    <p:sldId id="283" r:id="rId15"/>
    <p:sldId id="260" r:id="rId16"/>
    <p:sldId id="264" r:id="rId17"/>
    <p:sldId id="269" r:id="rId18"/>
    <p:sldId id="262" r:id="rId19"/>
    <p:sldId id="263" r:id="rId20"/>
    <p:sldId id="259" r:id="rId21"/>
    <p:sldId id="261" r:id="rId22"/>
    <p:sldId id="268" r:id="rId23"/>
    <p:sldId id="271" r:id="rId24"/>
    <p:sldId id="290" r:id="rId25"/>
    <p:sldId id="270" r:id="rId26"/>
    <p:sldId id="265" r:id="rId27"/>
    <p:sldId id="266" r:id="rId28"/>
    <p:sldId id="267" r:id="rId29"/>
    <p:sldId id="274" r:id="rId30"/>
    <p:sldId id="275" r:id="rId31"/>
    <p:sldId id="284" r:id="rId32"/>
    <p:sldId id="288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33" d="100"/>
          <a:sy n="133" d="100"/>
        </p:scale>
        <p:origin x="168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352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599" y="1453896"/>
            <a:ext cx="4242817" cy="251350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4000" b="1" dirty="0">
                <a:solidFill>
                  <a:srgbClr val="8AB9E8"/>
                </a:solidFill>
                <a:latin typeface="Segoe UI"/>
              </a:rPr>
              <a:t>AZURE AI FOUNDRY · features and capabilities</a:t>
            </a:r>
          </a:p>
        </p:txBody>
      </p:sp>
      <p:sp>
        <p:nvSpPr>
          <p:cNvPr id="50" name="TopicsAccentBar"/>
          <p:cNvSpPr/>
          <p:nvPr/>
        </p:nvSpPr>
        <p:spPr>
          <a:xfrm>
            <a:off x="5257800" y="1188720"/>
            <a:ext cx="54864" cy="5074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opicsList"/>
          <p:cNvSpPr txBox="1"/>
          <p:nvPr/>
        </p:nvSpPr>
        <p:spPr>
          <a:xfrm>
            <a:off x="5513832" y="192024"/>
            <a:ext cx="6312408" cy="5980176"/>
          </a:xfrm>
          <a:prstGeom prst="rect">
            <a:avLst/>
          </a:prstGeom>
          <a:noFill/>
        </p:spPr>
        <p:txBody>
          <a:bodyPr wrap="square" lIns="50800" tIns="25400" rIns="50800" bIns="2540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lang="en-US" sz="2000" b="1" dirty="0">
                <a:solidFill>
                  <a:srgbClr val="8AB9E8"/>
                </a:solidFill>
                <a:latin typeface="Segoe UI"/>
              </a:rPr>
              <a:t>Azure AI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abbreviations for Foundry resources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Azure Foundry RBAC — roles &amp; access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Where your inferencing data is processed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Deployment type is two choices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Standard vs Provisioned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Why the persona should live in git, not in Foundry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Two kinds of injection attack</a:t>
            </a:r>
          </a:p>
          <a:p>
            <a:pPr marL="200025" indent="-200025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Guardrail vs. Prompt Shield</a:t>
            </a:r>
          </a:p>
          <a:p>
            <a:pPr marL="200025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Memory: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Shield on memory I/O — the protection technology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A managed memory subsystem</a:t>
            </a:r>
          </a:p>
          <a:p>
            <a:pPr marL="657225" lvl="1" indent="-200025">
              <a:spcAft>
                <a:spcPts val="200"/>
              </a:spcAft>
              <a:buClr>
                <a:srgbClr val="8AB9E8"/>
              </a:buClr>
              <a:buFont typeface="Arial"/>
              <a:buChar char="▸"/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Size, cost, TTL &amp; the embedding dependency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RESOURCE MODEL · ACCOUNT &amp;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 isn't one object — it's a parent/child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201F1E"/>
                </a:solidFill>
                <a:latin typeface="Segoe UI"/>
              </a:rPr>
              <a:t>An Azure AI Foundry is an </a:t>
            </a:r>
            <a:r>
              <a:rPr sz="2200" b="1">
                <a:solidFill>
                  <a:srgbClr val="0078D4"/>
                </a:solidFill>
                <a:latin typeface="Segoe UI"/>
              </a:rPr>
              <a:t>account</a:t>
            </a:r>
            <a:r>
              <a:rPr sz="2200" b="0">
                <a:solidFill>
                  <a:srgbClr val="201F1E"/>
                </a:solidFill>
                <a:latin typeface="Segoe UI"/>
              </a:rPr>
              <a:t> with one or more </a:t>
            </a:r>
            <a:r>
              <a:rPr sz="2200" b="1">
                <a:solidFill>
                  <a:srgbClr val="107C10"/>
                </a:solidFill>
                <a:latin typeface="Segoe UI"/>
              </a:rPr>
              <a:t>projects</a:t>
            </a:r>
            <a:r>
              <a:rPr sz="2200" b="0">
                <a:solidFill>
                  <a:srgbClr val="201F1E"/>
                </a:solidFill>
                <a:latin typeface="Segoe UI"/>
              </a:rPr>
              <a:t> nested inside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Model deployments, the Guardrail, capability hosts and RBAC each attach at one of these two scopes.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ACCOUNT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parent resource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Microsoft.CognitiveServices/accounts (kind AIServices). Holds model deployments, the Guardrail (RAI policy) and the account capability host. One endpoint; CAF-named aif-….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PROJECT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child workspace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An accounts/projects resource under the account. Holds agents, threads/runs and connections, plus the project capability host. One account → many projects.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4416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aif-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project123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-prod</a:t>
            </a:r>
            <a:r>
              <a:rPr lang="en-US" sz="1500" b="1" dirty="0">
                <a:solidFill>
                  <a:srgbClr val="0078D4"/>
                </a:solidFill>
                <a:latin typeface="Consolas"/>
              </a:rPr>
              <a:t>-sdc</a:t>
            </a:r>
            <a:endParaRPr sz="1500" b="0" dirty="0">
              <a:solidFill>
                <a:srgbClr val="605E5C"/>
              </a:solidFill>
              <a:latin typeface="Segoe U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3867"/>
              </p:ext>
            </p:extLst>
          </p:nvPr>
        </p:nvGraphicFramePr>
        <p:xfrm>
          <a:off x="777240" y="1790889"/>
          <a:ext cx="106070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  <a:endParaRPr sz="11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aif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proj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oai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ais-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605E5C"/>
                          </a:solidFill>
                          <a:latin typeface="Consolas"/>
                        </a:rPr>
                        <a:t>srch</a:t>
                      </a:r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cs-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hub-</a:t>
                      </a:r>
                      <a:r>
                        <a:rPr lang="nb-NO" sz="1250" b="0" dirty="0">
                          <a:solidFill>
                            <a:srgbClr val="605E5C"/>
                          </a:solidFill>
                          <a:latin typeface="Consolas"/>
                        </a:rPr>
                        <a:t>project123</a:t>
                      </a:r>
                      <a:endParaRPr sz="1250" b="0" dirty="0">
                        <a:solidFill>
                          <a:srgbClr val="605E5C"/>
                        </a:solidFill>
                        <a:latin typeface="Consolas"/>
                      </a:endParaRP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158551"/>
            <a:ext cx="10607040" cy="1178241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224579"/>
            <a:ext cx="10241280" cy="10461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dirty="0">
                <a:solidFill>
                  <a:srgbClr val="243A5E"/>
                </a:solidFill>
                <a:latin typeface="Segoe UI"/>
              </a:rPr>
              <a:t>No CAF abbreviation for sub-resources &amp; data-plane objects — name them descriptively:</a:t>
            </a:r>
            <a:endParaRPr sz="1250" b="0" dirty="0">
              <a:solidFill>
                <a:srgbClr val="201F1E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deployment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model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b="0" dirty="0">
                <a:solidFill>
                  <a:srgbClr val="605E5C"/>
                </a:solidFill>
                <a:latin typeface="Consolas"/>
              </a:rPr>
              <a:t>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sz="11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  (</a:t>
            </a:r>
            <a:r>
              <a:rPr sz="1000" b="1" dirty="0">
                <a:solidFill>
                  <a:srgbClr val="107C10"/>
                </a:solidFill>
                <a:latin typeface="Consolas"/>
              </a:rPr>
              <a:t>chat</a:t>
            </a:r>
            <a:r>
              <a:rPr sz="1000" b="0" dirty="0">
                <a:solidFill>
                  <a:srgbClr val="605E5C"/>
                </a:solidFill>
                <a:latin typeface="Segoe UI"/>
              </a:rPr>
              <a:t> = purpose token)</a:t>
            </a: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(RAI policy)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guardrail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     ·      </a:t>
            </a:r>
            <a:endParaRPr lang="en-US" sz="1100" b="0" dirty="0">
              <a:solidFill>
                <a:srgbClr val="605E5C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sz="1100" b="1" dirty="0">
                <a:solidFill>
                  <a:srgbClr val="605E5C"/>
                </a:solidFill>
                <a:latin typeface="Segoe UI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agent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</a:p>
          <a:p>
            <a:r>
              <a:rPr sz="1100" b="1" dirty="0">
                <a:solidFill>
                  <a:srgbClr val="605E5C"/>
                </a:solidFill>
                <a:latin typeface="Segoe UI"/>
              </a:rPr>
              <a:t>memory</a:t>
            </a:r>
            <a:r>
              <a:rPr sz="1100" b="0" dirty="0">
                <a:solidFill>
                  <a:srgbClr val="605E5C"/>
                </a:solidFill>
                <a:latin typeface="Segoe UI"/>
              </a:rPr>
              <a:t> store → 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mem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project123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-sdc</a:t>
            </a:r>
            <a:endParaRPr sz="1100" b="1" dirty="0">
              <a:solidFill>
                <a:srgbClr val="0078D4"/>
              </a:solidFill>
              <a:latin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  <p:sp>
        <p:nvSpPr>
          <p:cNvPr id="12" name="TextBox Source"/>
          <p:cNvSpPr txBox="1"/>
          <p:nvPr/>
        </p:nvSpPr>
        <p:spPr>
          <a:xfrm>
            <a:off x="792327" y="4910328"/>
            <a:ext cx="106070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78D4"/>
                </a:solidFill>
                <a:latin typeface="Segoe UI"/>
              </a:rPr>
              <a:t>FOUNDRY AGENT SERVICE · TWO AGENT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43A5E"/>
                </a:solidFill>
                <a:latin typeface="Segoe UI"/>
              </a:rPr>
              <a:t>Prompt agent vs. hosted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36393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109728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agent</a:t>
                      </a:r>
                    </a:p>
                  </a:txBody>
                  <a:tcPr marL="109728" marR="109728" marT="36576" marB="36576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Hosted agent</a:t>
                      </a:r>
                    </a:p>
                  </a:txBody>
                  <a:tcPr marL="109728" marR="109728" marT="36576" marB="36576" anchor="ctr">
                    <a:solidFill>
                      <a:srgbClr val="5C2D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Declarative agent: persona + model + tools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Your own code packaged as a container image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Where it runs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Serverless — fully managed, no compute you own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Foundry pulls the image into a managed sandbox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You provide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A definition: instructions, model, tools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A container image (ACR) + protocol-library code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Custom code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None — prompt + configuration only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Any framework: Agent Framework, LangGraph, SK…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Tools &amp; memory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Declarative — attach tools &amp; MemorySearchTool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From code via Toolbox MCP / memory APIs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Maturity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Generally available (GA)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Public preview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989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05E5C"/>
                </a:solidFill>
                <a:latin typeface="Segoe UI"/>
              </a:rPr>
              <a:t>Gislefoss runs a prompt agent (agent-gislefoss-sdc) — declarative, GA, no container to host.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78D4"/>
                </a:solidFill>
                <a:latin typeface="Segoe UI"/>
              </a:rPr>
              <a:t>FOUNDRY AGENT SERVICE · MEMORY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43A5E"/>
                </a:solidFill>
                <a:latin typeface="Segoe UI"/>
              </a:rPr>
              <a:t>Declarative at the infra level vs. wired in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T="27432" marB="27432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agent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FFFFFF"/>
                          </a:solidFill>
                          <a:latin typeface="Segoe UI"/>
                        </a:rPr>
                        <a:t>declarative · infrastructure level</a:t>
                      </a:r>
                    </a:p>
                  </a:txBody>
                  <a:tcPr marT="27432" marB="27432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Hosted agent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FFFFFF"/>
                          </a:solidFill>
                          <a:latin typeface="Segoe UI"/>
                        </a:rPr>
                        <a:t>code level</a:t>
                      </a:r>
                    </a:p>
                  </a:txBody>
                  <a:tcPr marT="27432" marB="27432" anchor="ctr">
                    <a:solidFill>
                      <a:srgbClr val="5C2D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Where it's defined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Infrastructure — Bicep + agent definition (config, no app code)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Code — inside your container's orchestration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Guardrails (content safety)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Content filters / Guardrail attached to the model deployment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Built into the runtime — every prompt &amp; response screened around your code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Prompt Shields (XPIA)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Inherited from the deployment Guardrail — Jailbreak + Indirect Attack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Same platform shields, applied by the runtime wrapper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Agentic memory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Declarative — MemorySearchTool bound in the agent definition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From code — Toolbox MCP / memory APIs, or bring-your-own store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Who wires it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Platform + IaC — no application code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You, in the container code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To change it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Edit Bicep &amp; redeploy — versioned infrastructure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Edit code, rebuild image, publish new version</a:t>
                      </a:r>
                    </a:p>
                  </a:txBody>
                  <a:tcPr marT="27432" marB="27432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989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05E5C"/>
                </a:solidFill>
                <a:latin typeface="Segoe UI"/>
              </a:rPr>
              <a:t>Both agent types get the same guardrails, Prompt Shields and memory — the difference is where you wire them: prompt agent declaratively at the infra level (Gislefoss today), hosted agent in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78D4"/>
                </a:solidFill>
                <a:latin typeface="Segoe UI"/>
              </a:rPr>
              <a:t>FOUNDRY AGENT SERVICE · SCALING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43A5E"/>
                </a:solidFill>
                <a:latin typeface="Segoe UI"/>
              </a:rPr>
              <a:t>Scaling — prompt agent vs. hosted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295271"/>
              </p:ext>
            </p:extLst>
          </p:nvPr>
        </p:nvGraphicFramePr>
        <p:xfrm>
          <a:off x="777240" y="1783080"/>
          <a:ext cx="10607040" cy="36393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109728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agent</a:t>
                      </a:r>
                    </a:p>
                  </a:txBody>
                  <a:tcPr marL="109728" marR="109728" marT="36576" marB="36576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Hosted agent</a:t>
                      </a:r>
                    </a:p>
                  </a:txBody>
                  <a:tcPr marL="109728" marR="109728" marT="36576" marB="36576" anchor="ctr">
                    <a:solidFill>
                      <a:srgbClr val="5C2D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Agent compute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None — serverless, managed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Per-session VM-isolated sandbox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Primary limit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201F1E"/>
                          </a:solidFill>
                          <a:latin typeface="Segoe UI"/>
                        </a:rPr>
                        <a:t>Model deployment TPM/RPM (or PTU)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Concurrent sessions (50/region) + model quota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Scale to zero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N/A — nothing is running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Yes — 15-min idle, state persisted &amp; resumed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What you tune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Model quota / deployment type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CPU+memory per session + model quota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Compute billing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None — pay per token only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CPU+memory per active session (+ tokens)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endParaRPr sz="1350" b="1" dirty="0">
                        <a:solidFill>
                          <a:srgbClr val="243A5E"/>
                        </a:solidFill>
                        <a:latin typeface="Segoe UI"/>
                      </a:endParaRP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endParaRPr sz="1300" b="0">
                        <a:solidFill>
                          <a:srgbClr val="201F1E"/>
                        </a:solidFill>
                        <a:latin typeface="Segoe UI"/>
                      </a:endParaRP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endParaRPr sz="1300" b="0" dirty="0">
                        <a:solidFill>
                          <a:srgbClr val="201F1E"/>
                        </a:solidFill>
                        <a:latin typeface="Segoe UI"/>
                      </a:endParaRP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715000"/>
            <a:ext cx="106070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605E5C"/>
                </a:solidFill>
                <a:latin typeface="Segoe UI"/>
              </a:rPr>
              <a:t>Both bottleneck on the model deployment's TPM/RPM (or PTU) quota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BUILT-IN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Built-in Foundry roles — 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>
                <a:solidFill>
                  <a:srgbClr val="201F1E"/>
                </a:solidFill>
                <a:latin typeface="Segoe UI"/>
              </a:rPr>
              <a:t>The four built-in Foundry roles and the seven actions each one grants — author vs. run vs.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3013507"/>
              </p:ext>
            </p:extLst>
          </p:nvPr>
        </p:nvGraphicFramePr>
        <p:xfrm>
          <a:off x="777240" y="2300000"/>
          <a:ext cx="10607040" cy="2347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projects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Create Foundry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Build &amp; develop in a project (data actions)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Segoe UI"/>
                        </a:rPr>
                        <a:t>R</a:t>
                      </a: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ole 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Segoe UI"/>
                        </a:rPr>
                        <a:t>assignments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Reader access to projects &amp; accounts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Manage models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only assign Foundry User role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5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  <a:r>
                        <a:rPr sz="850" b="0">
                          <a:solidFill>
                            <a:srgbClr val="605E5C"/>
                          </a:solidFill>
                          <a:latin typeface="Segoe UI"/>
                        </a:rPr>
                        <a:t>assign Foundry User, ACR &amp; monitoring roles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500" b="1" dirty="0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6B13748-D9B4-D184-51EE-52F34A1F843E}"/>
              </a:ext>
            </a:extLst>
          </p:cNvPr>
          <p:cNvSpPr txBox="1"/>
          <p:nvPr/>
        </p:nvSpPr>
        <p:spPr>
          <a:xfrm>
            <a:off x="658368" y="5120036"/>
            <a:ext cx="10479024" cy="130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1" dirty="0">
                <a:solidFill>
                  <a:srgbClr val="243A5E"/>
                </a:solidFill>
                <a:latin typeface="Segoe UI"/>
              </a:rPr>
              <a:t>Split RBAC — deployment and runtime: author ≠ runtime:</a:t>
            </a:r>
          </a:p>
          <a:p>
            <a:pPr marL="285750" indent="-285750">
              <a:lnSpc>
                <a:spcPct val="104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01F1E"/>
                </a:solidFill>
                <a:latin typeface="Segoe UI"/>
              </a:rPr>
              <a:t>Provisoiner infrastructure (account, projects, models) → 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Segoe UI"/>
              </a:rPr>
              <a:t>Foundry Owner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latin typeface="Segoe UI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Provisioner agents  →  </a:t>
            </a:r>
            <a:r>
              <a:rPr lang="en-US" sz="1800" b="1" dirty="0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0" dirty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lang="en-US" sz="1800" b="1" dirty="0">
                <a:solidFill>
                  <a:srgbClr val="0078D4"/>
                </a:solidFill>
                <a:latin typeface="Segoe UI"/>
              </a:rPr>
              <a:t>Foundry User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IDENTITY &amp; ACCESS · MANAGED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Foundry's identity hierarchy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" y="1572768"/>
            <a:ext cx="10698480" cy="548640"/>
          </a:xfrm>
          <a:prstGeom prst="rect">
            <a:avLst/>
          </a:prstGeom>
          <a:noFill/>
        </p:spPr>
        <p:txBody>
          <a:bodyPr wrap="square" lIns="164592" tIns="109728" rIns="164592" bIns="109728">
            <a:spAutoFit/>
          </a:bodyPr>
          <a:lstStyle/>
          <a:p>
            <a:pPr algn="l"/>
            <a:r>
              <a:rPr sz="1400" b="0" dirty="0">
                <a:solidFill>
                  <a:srgbClr val="605E5C"/>
                </a:solidFill>
                <a:latin typeface="Segoe UI"/>
              </a:rPr>
              <a:t>Beyond the provisioner and app roles, Foundry runs on a hierarchy of its own identities — the account, each project, and each hosted agent. In a multi-project account, </a:t>
            </a:r>
            <a:r>
              <a:rPr sz="1400" b="1" dirty="0">
                <a:solidFill>
                  <a:srgbClr val="605E5C"/>
                </a:solidFill>
                <a:latin typeface="Segoe UI"/>
              </a:rPr>
              <a:t>every project carries its own — so their data stays isolated.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00400"/>
            <a:ext cx="5166360" cy="2651760"/>
          </a:xfrm>
          <a:prstGeom prst="roundRect">
            <a:avLst/>
          </a:prstGeom>
          <a:solidFill>
            <a:srgbClr val="EEE9F4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46304" rtlCol="0" anchor="t"/>
          <a:lstStyle/>
          <a:p>
            <a:pPr algn="l"/>
            <a:r>
              <a:rPr sz="1500" b="1">
                <a:solidFill>
                  <a:srgbClr val="5C2D91"/>
                </a:solidFill>
                <a:latin typeface="Segoe UI"/>
              </a:rPr>
              <a:t>PROJECT MANAGED IDENTITY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150" b="1">
                <a:solidFill>
                  <a:srgbClr val="201F1E"/>
                </a:solidFill>
                <a:latin typeface="Segoe UI"/>
              </a:rPr>
              <a:t>Platform &amp; project-level operations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The project's own system-assigned Entra identity.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Secretless, project-level access to its dependencies — Foundry-managed storage (threads · files · vector stores), connected data sources and tool back-ends.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RBAC on those dependencies is granted to this identity.</a:t>
            </a:r>
          </a:p>
          <a:p>
            <a:pPr algn="l">
              <a:spcAft>
                <a:spcPts val="700"/>
              </a:spcAft>
            </a:pPr>
            <a:r>
              <a:rPr sz="1150" b="1">
                <a:solidFill>
                  <a:srgbClr val="5C2D91"/>
                </a:solidFill>
                <a:latin typeface="Segoe UI"/>
              </a:rPr>
              <a:t>•  </a:t>
            </a:r>
            <a:r>
              <a:rPr sz="1150" b="0">
                <a:solidFill>
                  <a:srgbClr val="201F1E"/>
                </a:solidFill>
                <a:latin typeface="Segoe UI"/>
              </a:rPr>
              <a:t>Represents the project as a whole — not any single agent.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605E5C"/>
                </a:solidFill>
                <a:latin typeface="Segoe UI"/>
              </a:rPr>
              <a:t>In this repo: </a:t>
            </a:r>
            <a:r>
              <a:rPr sz="1050" b="0">
                <a:solidFill>
                  <a:srgbClr val="605E5C"/>
                </a:solidFill>
                <a:latin typeface="Consolas"/>
              </a:rPr>
              <a:t>SystemAssigned on accounts/projects.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3200400"/>
            <a:ext cx="5166360" cy="2651760"/>
          </a:xfrm>
          <a:prstGeom prst="roundRect">
            <a:avLst/>
          </a:prstGeom>
          <a:solidFill>
            <a:srgbClr val="E4F0F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46304" rtlCol="0" anchor="t"/>
          <a:lstStyle/>
          <a:p>
            <a:pPr algn="l"/>
            <a:r>
              <a:rPr sz="1500" b="1">
                <a:solidFill>
                  <a:srgbClr val="0078D4"/>
                </a:solidFill>
                <a:latin typeface="Segoe UI"/>
              </a:rPr>
              <a:t>HOSTED AGENT IDENTITY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150" b="1">
                <a:solidFill>
                  <a:srgbClr val="201F1E"/>
                </a:solidFill>
                <a:latin typeface="Segoe UI"/>
              </a:rPr>
              <a:t>Makes the agent a first-class, governable principal.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243A5E"/>
                </a:solidFill>
                <a:latin typeface="Consolas"/>
              </a:rPr>
              <a:t>Hosted Agent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0">
                <a:solidFill>
                  <a:srgbClr val="201F1E"/>
                </a:solidFill>
                <a:latin typeface="Consolas"/>
              </a:rPr>
              <a:t>agent versions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0">
                <a:solidFill>
                  <a:srgbClr val="201F1E"/>
                </a:solidFill>
                <a:latin typeface="Consolas"/>
              </a:rPr>
              <a:t>stable endpoint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250" b="1">
                <a:solidFill>
                  <a:srgbClr val="0078D4"/>
                </a:solidFill>
                <a:latin typeface="Consolas"/>
              </a:rPr>
              <a:t>unique Entra agent identity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605E5C"/>
                </a:solidFill>
                <a:latin typeface="Consolas"/>
              </a:rPr>
              <a:t> └── </a:t>
            </a:r>
            <a:r>
              <a:rPr sz="1250" b="1">
                <a:solidFill>
                  <a:srgbClr val="0078D4"/>
                </a:solidFill>
                <a:latin typeface="Consolas"/>
              </a:rPr>
              <a:t>can later be published to M365 / Teams</a:t>
            </a:r>
          </a:p>
          <a:p>
            <a:pPr algn="l">
              <a:spcBef>
                <a:spcPts val="1200"/>
              </a:spcBef>
            </a:pPr>
            <a:r>
              <a:rPr sz="1100" b="0">
                <a:solidFill>
                  <a:srgbClr val="605E5C"/>
                </a:solidFill>
                <a:latin typeface="Segoe UI"/>
              </a:rPr>
              <a:t>→ versioned, addressable and individually governed — </a:t>
            </a:r>
            <a:r>
              <a:rPr sz="1100" b="1">
                <a:solidFill>
                  <a:srgbClr val="605E5C"/>
                </a:solidFill>
                <a:latin typeface="Segoe UI"/>
              </a:rPr>
              <a:t>and portable to M365 / Teams.</a:t>
            </a:r>
          </a:p>
        </p:txBody>
      </p:sp>
      <p:sp>
        <p:nvSpPr>
          <p:cNvPr id="12" name="Hierarchy band"/>
          <p:cNvSpPr/>
          <p:nvPr/>
        </p:nvSpPr>
        <p:spPr>
          <a:xfrm>
            <a:off x="777240" y="2167128"/>
            <a:ext cx="10634472" cy="932688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09728" bIns="27432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243A5E"/>
                </a:solidFill>
                <a:latin typeface="Consolas"/>
              </a:rPr>
              <a:t>Foundry account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account-level operations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├── </a:t>
            </a:r>
            <a:r>
              <a:rPr sz="1100" b="1" dirty="0">
                <a:solidFill>
                  <a:srgbClr val="5C2D91"/>
                </a:solidFill>
                <a:latin typeface="Consolas"/>
              </a:rPr>
              <a:t>Project A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isolated to its dependencies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│     └── </a:t>
            </a:r>
            <a:r>
              <a:rPr lang="en-US" sz="1100" b="1" dirty="0">
                <a:solidFill>
                  <a:srgbClr val="0078D4"/>
                </a:solidFill>
                <a:latin typeface="Consolas"/>
              </a:rPr>
              <a:t>Prompt</a:t>
            </a:r>
            <a:r>
              <a:rPr sz="1100" b="1" dirty="0">
                <a:solidFill>
                  <a:srgbClr val="0078D4"/>
                </a:solidFill>
                <a:latin typeface="Consolas"/>
              </a:rPr>
              <a:t> agent</a:t>
            </a:r>
            <a:r>
              <a:rPr lang="en-US" sz="1100" b="1" dirty="0">
                <a:solidFill>
                  <a:srgbClr val="0078D4"/>
                </a:solidFill>
                <a:latin typeface="Consolas"/>
              </a:rPr>
              <a:t>1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Entra agent</a:t>
            </a:r>
            <a:r>
              <a:rPr lang="en-US" sz="1100" b="0" dirty="0">
                <a:solidFill>
                  <a:srgbClr val="605E5C"/>
                </a:solidFill>
                <a:latin typeface="Consolas"/>
              </a:rPr>
              <a:t>1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identity  (detailed below ↓)</a:t>
            </a:r>
            <a:endParaRPr lang="en-US" sz="1100" b="0" dirty="0">
              <a:solidFill>
                <a:srgbClr val="605E5C"/>
              </a:solidFill>
              <a:latin typeface="Consolas"/>
            </a:endParaRPr>
          </a:p>
          <a:p>
            <a:r>
              <a:rPr lang="en-US" sz="1100" dirty="0">
                <a:solidFill>
                  <a:srgbClr val="605E5C"/>
                </a:solidFill>
                <a:latin typeface="Consolas"/>
              </a:rPr>
              <a:t> │     └── </a:t>
            </a:r>
            <a:r>
              <a:rPr lang="en-US" sz="1100" b="1" dirty="0">
                <a:solidFill>
                  <a:srgbClr val="0078D4"/>
                </a:solidFill>
                <a:latin typeface="Consolas"/>
              </a:rPr>
              <a:t>Hosted agent2</a:t>
            </a:r>
            <a:r>
              <a:rPr lang="en-US" sz="1100" dirty="0">
                <a:solidFill>
                  <a:srgbClr val="605E5C"/>
                </a:solidFill>
                <a:latin typeface="Consolas"/>
              </a:rPr>
              <a:t>   · own Entra agent2 identity  (detailed below ↓)</a:t>
            </a:r>
            <a:endParaRPr sz="1100" b="0" dirty="0">
              <a:solidFill>
                <a:srgbClr val="605E5C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605E5C"/>
                </a:solidFill>
                <a:latin typeface="Consolas"/>
              </a:rPr>
              <a:t> └── </a:t>
            </a:r>
            <a:r>
              <a:rPr sz="1100" b="1" dirty="0">
                <a:solidFill>
                  <a:srgbClr val="5C2D91"/>
                </a:solidFill>
                <a:latin typeface="Consolas"/>
              </a:rPr>
              <a:t>Project B</a:t>
            </a:r>
            <a:r>
              <a:rPr sz="1100" b="0" dirty="0">
                <a:solidFill>
                  <a:srgbClr val="605E5C"/>
                </a:solidFill>
                <a:latin typeface="Consolas"/>
              </a:rPr>
              <a:t>   · own identity, isolated to its dependencies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ANATOMY OF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3000" b="1" dirty="0">
                <a:solidFill>
                  <a:srgbClr val="243A5E"/>
                </a:solidFill>
                <a:latin typeface="Segoe UI"/>
              </a:rPr>
              <a:t>Foundry 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deployment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: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two </a:t>
            </a:r>
            <a:r>
              <a:rPr lang="en-US" sz="3000" b="1" dirty="0">
                <a:solidFill>
                  <a:srgbClr val="243A5E"/>
                </a:solidFill>
                <a:latin typeface="Segoe UI"/>
              </a:rPr>
              <a:t>axes</a:t>
            </a:r>
            <a:endParaRPr sz="3000" b="1" dirty="0">
              <a:solidFill>
                <a:srgbClr val="243A5E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Pick how you pay and where data is processed — the two combine into one SKU.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304288"/>
            <a:ext cx="1874519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2304288"/>
            <a:ext cx="1783079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243A5E"/>
                </a:solidFill>
                <a:latin typeface="Segoe UI"/>
              </a:rPr>
              <a:t>deployment type =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605E5C"/>
                </a:solidFill>
                <a:latin typeface="Segoe UI"/>
              </a:rPr>
              <a:t>↓ how you pay   → where it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0632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70632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GLOBAL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any Azure region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107C10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DATA ZONE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US or EU zone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67928" y="2304288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5C2D91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67928" y="2304288"/>
            <a:ext cx="2779776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REGIONAL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Segoe UI"/>
              </a:rPr>
              <a:t>one region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2962656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2962656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pay-per-token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096512"/>
            <a:ext cx="1874519" cy="1005840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1270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96512"/>
            <a:ext cx="1874519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PROVISIONED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C7D6EA"/>
                </a:solidFill>
                <a:latin typeface="Segoe UI"/>
              </a:rPr>
              <a:t>reserved PTU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0632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DEECF9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70632" y="3275780"/>
            <a:ext cx="2779776" cy="379591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 dirty="0" err="1">
                <a:solidFill>
                  <a:srgbClr val="243A5E"/>
                </a:solidFill>
                <a:latin typeface="Consolas"/>
              </a:rPr>
              <a:t>GlobalStandard</a:t>
            </a:r>
            <a:endParaRPr sz="1100" b="1" i="0" dirty="0">
              <a:solidFill>
                <a:srgbClr val="243A5E"/>
              </a:solidFill>
              <a:latin typeface="Consolas"/>
            </a:endParaRPr>
          </a:p>
          <a:p>
            <a:pPr algn="ctr">
              <a:spcAft>
                <a:spcPts val="0"/>
              </a:spcAft>
            </a:pPr>
            <a:r>
              <a:rPr lang="en-US" sz="950" b="1" i="0" dirty="0">
                <a:solidFill>
                  <a:srgbClr val="0078D4"/>
                </a:solidFill>
                <a:latin typeface="Segoe UI"/>
              </a:rPr>
              <a:t>Most common choice</a:t>
            </a:r>
            <a:endParaRPr sz="950" b="1" i="0" dirty="0">
              <a:solidFill>
                <a:srgbClr val="0078D4"/>
              </a:solidFill>
              <a:latin typeface="Segoe U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669280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0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US or EU zone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67928" y="2962656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67928" y="2962656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Standard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70632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70632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global + reserved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0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0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zone + reserved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67928" y="4096512"/>
            <a:ext cx="2779776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67928" y="4096512"/>
            <a:ext cx="2779776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05E5C"/>
                </a:solidFill>
                <a:latin typeface="Segoe UI"/>
              </a:rPr>
              <a:t>one region + reserved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230368"/>
            <a:ext cx="10570464" cy="786384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77240" y="5238839"/>
            <a:ext cx="10570464" cy="76944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 dirty="0">
                <a:solidFill>
                  <a:srgbClr val="FFFFFF"/>
                </a:solidFill>
                <a:latin typeface="Segoe UI"/>
              </a:rPr>
              <a:t>One SKU = one cell of this grid.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=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 </a:t>
            </a:r>
            <a:endParaRPr lang="en-US" sz="1200" b="0" i="0" dirty="0">
              <a:solidFill>
                <a:srgbClr val="C7D6EA"/>
              </a:solidFill>
              <a:latin typeface="Segoe UI"/>
            </a:endParaRPr>
          </a:p>
          <a:p>
            <a:pPr algn="l">
              <a:spcAft>
                <a:spcPts val="0"/>
              </a:spcAft>
            </a:pPr>
            <a:r>
              <a:rPr sz="1200" b="1" i="0" dirty="0">
                <a:solidFill>
                  <a:srgbClr val="C7D6EA"/>
                </a:solidFill>
                <a:latin typeface="Segoe UI"/>
              </a:rPr>
              <a:t>Batch flavor 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(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GlobalBatch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· </a:t>
            </a:r>
            <a:r>
              <a:rPr sz="1200" b="0" i="0" dirty="0" err="1">
                <a:solidFill>
                  <a:srgbClr val="C7D6EA"/>
                </a:solidFill>
                <a:latin typeface="Consolas"/>
              </a:rPr>
              <a:t>DataZoneBatch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) for async bulk processing.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Inferencing</a:t>
            </a:r>
            <a:r>
              <a:rPr lang="nb-NO" sz="1600" b="0" dirty="0">
                <a:solidFill>
                  <a:srgbClr val="605E5C"/>
                </a:solidFill>
                <a:latin typeface="Segoe UI"/>
              </a:rPr>
              <a:t> data - </a:t>
            </a:r>
            <a:r>
              <a:rPr lang="ru-RU" sz="1600" dirty="0"/>
              <a:t>data used during a model call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605E5C"/>
                </a:solidFill>
                <a:latin typeface="Segoe UI"/>
              </a:rPr>
              <a:t>Deployment type — not region — decides which datacenters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 dirty="0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 dirty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200" b="0" dirty="0">
                <a:solidFill>
                  <a:srgbClr val="C7D6EA"/>
                </a:solidFill>
                <a:latin typeface="Segoe UI"/>
              </a:rPr>
              <a:t>Even an agent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runs gpt-4o as </a:t>
            </a:r>
            <a:r>
              <a:rPr sz="1200" b="1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dirty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THE BILLING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Standard vs Provisioned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Pay-per-token elasticity, or reserved capacity with guaranteed throughput.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STANDARD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pay-per-token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Pay only for the tokens you use.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per-token consumption — no commitment.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best-effort TPM quota; nothing reserved.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variable; no throughput SLA.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cost scales to zero when unused.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bursty, low–medium volume, prototypes.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Standard · DataZoneStandard · GlobalStandard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C2D91"/>
                </a:solidFill>
                <a:latin typeface="Segoe UI"/>
              </a:rPr>
              <a:t>PROVISIONED</a:t>
            </a:r>
            <a:r>
              <a:rPr sz="1200" b="0" i="0">
                <a:solidFill>
                  <a:srgbClr val="605E5C"/>
                </a:solidFill>
                <a:latin typeface="Consolas"/>
              </a:rPr>
              <a:t>   ·  reserved PTU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Reserve capacity in PTUs up front.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Billing: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fixed reserved capacity — pay used or not.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Capacity: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guaranteed throughput; minimum PTU.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Latency: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low and consistent — SLA-backed.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Idle: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always-on cost; built for steady scale.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C2D91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Best for: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consistent, high, predictable volume.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ProvisionedManaged · DataZoneProvisionedManaged · GlobalProvisionedManaged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99611"/>
            <a:ext cx="10570464" cy="577081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 dirty="0">
                <a:solidFill>
                  <a:srgbClr val="FFFFFF"/>
                </a:solidFill>
                <a:latin typeface="Segoe UI"/>
              </a:rPr>
              <a:t>Prompt caching pays off either way — partial discount on Standard, up to 100% off cached input on Provisioned.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Most common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lang="en-US" sz="1200" b="0" i="0" dirty="0">
                <a:solidFill>
                  <a:srgbClr val="C7D6EA"/>
                </a:solidFill>
                <a:latin typeface="Segoe UI"/>
              </a:rPr>
              <a:t>is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 today; the production EU path is </a:t>
            </a:r>
            <a:r>
              <a:rPr sz="1200" b="1" i="0" dirty="0" err="1">
                <a:solidFill>
                  <a:srgbClr val="FFFFFF"/>
                </a:solidFill>
                <a:latin typeface="Consolas"/>
              </a:rPr>
              <a:t>DataZoneProvisionedManaged</a:t>
            </a:r>
            <a:r>
              <a:rPr sz="1200" b="0" i="0" dirty="0">
                <a:solidFill>
                  <a:srgbClr val="C7D6E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CHOOSING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Which deployment type, when?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Match it to your stage — and to whether processing must stay in a data boundary.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10607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Colour = where inference runs:    </a:t>
            </a:r>
            <a:r>
              <a:rPr sz="1100" b="1" i="0">
                <a:solidFill>
                  <a:srgbClr val="0078D4"/>
                </a:solidFill>
                <a:latin typeface="Segoe UI"/>
              </a:rPr>
              <a:t>Global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any region        </a:t>
            </a:r>
            <a:r>
              <a:rPr sz="1100" b="1" i="0">
                <a:solidFill>
                  <a:srgbClr val="107C10"/>
                </a:solidFill>
                <a:latin typeface="Segoe UI"/>
              </a:rPr>
              <a:t>Data Zone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US or EU zone        </a:t>
            </a:r>
            <a:r>
              <a:rPr sz="1100" b="1" i="0">
                <a:solidFill>
                  <a:srgbClr val="5C2D91"/>
                </a:solidFill>
                <a:latin typeface="Segoe UI"/>
              </a:rPr>
              <a:t>Regional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one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77240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PROTOTYPE / LOW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for EU enterprise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no data-boundary requirement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8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PRODUCTION / HIGH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 enterprise default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global processing is acceptable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"/>
              </a:rPr>
              <a:t>Regional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exact-region compliance is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28431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OFFLINE /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999232"/>
            <a:ext cx="3042208" cy="2606039"/>
          </a:xfrm>
          <a:prstGeom prst="rect">
            <a:avLst/>
          </a:prstGeom>
          <a:noFill/>
        </p:spPr>
        <p:txBody>
          <a:bodyPr wrap="square" lIns="25400" tIns="25400" r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cheapest/flexible bulk processing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EU/US bounded bulk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52160"/>
            <a:ext cx="10607040" cy="47548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38100" rIns="127000" bIns="38100" rtlCol="0" anchor="ctr"/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Segoe UI"/>
              </a:rPr>
              <a:t>Common </a:t>
            </a:r>
            <a:r>
              <a:rPr lang="en-US" sz="1100" b="0" i="0" dirty="0" err="1">
                <a:solidFill>
                  <a:srgbClr val="FFFFFF"/>
                </a:solidFill>
                <a:latin typeface="Segoe UI"/>
              </a:rPr>
              <a:t>choise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: a prototype on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GlobalStandard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.   EU-residency path →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DataZoneStandard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now, </a:t>
            </a:r>
            <a:r>
              <a:rPr sz="1050" b="0" i="0" dirty="0" err="1">
                <a:solidFill>
                  <a:srgbClr val="C7D6EA"/>
                </a:solidFill>
                <a:latin typeface="Consolas"/>
              </a:rPr>
              <a:t>DataZoneProvisionedManaged</a:t>
            </a:r>
            <a:r>
              <a:rPr sz="1100" b="0" i="0" dirty="0">
                <a:solidFill>
                  <a:srgbClr val="FFFFFF"/>
                </a:solidFill>
                <a:latin typeface="Segoe UI"/>
              </a:rPr>
              <a:t> at production scale.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CAPACITY &amp; QUOTA · SUBSCRIPTION-SCOPED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2614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243A5E"/>
                </a:solidFill>
                <a:latin typeface="Segoe UI"/>
              </a:rPr>
              <a:t>Quota is per </a:t>
            </a:r>
            <a:r>
              <a:rPr lang="en-US" sz="2800" b="1" dirty="0">
                <a:solidFill>
                  <a:srgbClr val="243A5E"/>
                </a:solidFill>
                <a:latin typeface="Segoe UI"/>
              </a:rPr>
              <a:t>Azure 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lang="nb-NO" sz="2800" b="1" dirty="0">
                <a:solidFill>
                  <a:srgbClr val="243A5E"/>
                </a:solidFill>
                <a:latin typeface="Segoe UI"/>
              </a:rPr>
              <a:t>/region/</a:t>
            </a:r>
            <a:r>
              <a:rPr lang="nb-NO" sz="2800" b="1" dirty="0" err="1">
                <a:solidFill>
                  <a:srgbClr val="243A5E"/>
                </a:solidFill>
                <a:latin typeface="Segoe UI"/>
              </a:rPr>
              <a:t>model</a:t>
            </a:r>
            <a:r>
              <a:rPr sz="2800" b="1" dirty="0">
                <a:solidFill>
                  <a:srgbClr val="243A5E"/>
                </a:solidFill>
                <a:latin typeface="Segoe UI"/>
              </a:rPr>
              <a:t> — not per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Model quota — tokens-per-minute and provisioned PTU — is allocated </a:t>
            </a:r>
            <a:r>
              <a:rPr lang="nb-NO" sz="2000" b="1" dirty="0" err="1">
                <a:solidFill>
                  <a:srgbClr val="605E5C"/>
                </a:solidFill>
                <a:latin typeface="Segoe UI"/>
              </a:rPr>
              <a:t>per subscription, per region, per model</a:t>
            </a:r>
            <a:r>
              <a:rPr lang="nb-NO" sz="1600" b="0" dirty="0" err="1">
                <a:solidFill>
                  <a:srgbClr val="605E5C"/>
                </a:solidFill>
                <a:latin typeface="Segoe UI"/>
              </a:rPr>
              <a:t>. Two Foundry accounts in the same subscription + region draw from one token budget.</a:t>
            </a:r>
            <a:endParaRPr lang="nb-NO" sz="1600" dirty="0">
              <a:solidFill>
                <a:srgbClr val="605E5C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C5292A"/>
                </a:solidFill>
                <a:latin typeface="Segoe UI"/>
              </a:rPr>
              <a:t>SHARED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same subscription 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+ region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+ TeamB share one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One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both teams' accounts pull from a single per-region TPM/PTU budget.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Noisy neighbour: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a TeamA spike can exhaust quota and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5292A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Accounts don't help: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separate accounts isolate config &amp; RBAC — not quota.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TeamA-acct  +  TeamB-acct   →   one shared quota pool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176272"/>
            <a:ext cx="50749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2286000"/>
            <a:ext cx="4526280" cy="256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 dirty="0">
                <a:solidFill>
                  <a:srgbClr val="107C10"/>
                </a:solidFill>
                <a:latin typeface="Segoe UI"/>
              </a:rPr>
              <a:t>ISOLATED</a:t>
            </a:r>
            <a:r>
              <a:rPr sz="1200" b="0" i="0" dirty="0">
                <a:solidFill>
                  <a:srgbClr val="605E5C"/>
                </a:solidFill>
                <a:latin typeface="Consolas"/>
              </a:rPr>
              <a:t>   ·  </a:t>
            </a:r>
            <a:r>
              <a:rPr sz="1200" b="1" i="0" dirty="0">
                <a:solidFill>
                  <a:srgbClr val="605E5C"/>
                </a:solidFill>
                <a:latin typeface="Consolas"/>
              </a:rPr>
              <a:t>separate subscriptions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79192"/>
            <a:ext cx="4526280" cy="3840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243A5E"/>
                </a:solidFill>
                <a:latin typeface="Segoe UI"/>
              </a:rPr>
              <a:t>TeamA &amp; TeamB each own a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60"/>
            <a:ext cx="4526280" cy="1691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Own pool: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each subscription gets its own per-region quota.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No starvation: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TeamA's spike can never throttle TeamB.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1" i="0">
                <a:solidFill>
                  <a:srgbClr val="243A5E"/>
                </a:solidFill>
                <a:latin typeface="Segoe UI"/>
              </a:rPr>
              <a:t>Real boundary: </a:t>
            </a:r>
            <a:r>
              <a:rPr sz="1300" b="0" i="0">
                <a:solidFill>
                  <a:srgbClr val="605E5C"/>
                </a:solidFill>
                <a:latin typeface="Segoe UI"/>
              </a:rPr>
              <a:t>subscriptions isolate quota, billing &amp; policy.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46320"/>
            <a:ext cx="45262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05E5C"/>
                </a:solidFill>
                <a:latin typeface="Consolas"/>
              </a:rPr>
              <a:t>TeamA-sub   |   TeamB-sub   →   two separate quota pools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413248"/>
            <a:ext cx="10570464" cy="74980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10570464" cy="749808"/>
          </a:xfrm>
          <a:prstGeom prst="rect">
            <a:avLst/>
          </a:prstGeom>
          <a:noFill/>
        </p:spPr>
        <p:txBody>
          <a:bodyPr wrap="square" lIns="177800" tIns="76200" rIns="177800" bIns="7620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Separate accounts isolate config &amp; RBAC blast radius — but not quota.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EA"/>
                </a:solidFill>
                <a:latin typeface="Segoe UI"/>
              </a:rPr>
              <a:t>To stop a TeamA spike starving TeamB, put the two teams in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separate subscriptions</a:t>
            </a:r>
            <a:r>
              <a:rPr sz="1200" b="0" i="0">
                <a:solidFill>
                  <a:srgbClr val="C7D6EA"/>
                </a:solidFill>
                <a:latin typeface="Segoe UI"/>
              </a:rPr>
              <a:t> — the only boundary that isolates quota, billing &amp; policy.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B35BB76E-5B81-A1E2-E527-8BC11833E3CB}"/>
              </a:ext>
            </a:extLst>
          </p:cNvPr>
          <p:cNvSpPr/>
          <p:nvPr/>
        </p:nvSpPr>
        <p:spPr>
          <a:xfrm>
            <a:off x="4123944" y="2285999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RECOMMENDED TOPOLOGY ·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account per region, one project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10607040" cy="5669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dirty="0">
                <a:solidFill>
                  <a:srgbClr val="243A5E"/>
                </a:solidFill>
                <a:latin typeface="Segoe UI"/>
              </a:rPr>
              <a:t>Subscription per team per environment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, a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Foundry account per region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 inside each, and </a:t>
            </a:r>
            <a:r>
              <a:rPr sz="1600" b="1" dirty="0">
                <a:solidFill>
                  <a:srgbClr val="243A5E"/>
                </a:solidFill>
                <a:latin typeface="Segoe UI"/>
              </a:rPr>
              <a:t>one project per app or initiative</a:t>
            </a:r>
            <a:r>
              <a:rPr sz="1600" b="0" dirty="0">
                <a:solidFill>
                  <a:srgbClr val="605E5C"/>
                </a:solidFill>
                <a:latin typeface="Segoe U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3410712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2414016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A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200400"/>
            <a:ext cx="2788920" cy="5486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 West Europe</a:t>
            </a:r>
          </a:p>
          <a:p>
            <a:pPr algn="l"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teama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6128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6128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6128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3108960"/>
            <a:ext cx="31546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43400" y="3200400"/>
            <a:ext cx="2788920" cy="39241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>
              <a:spcAft>
                <a:spcPts val="100"/>
              </a:spcAft>
            </a:pPr>
            <a:r>
              <a:rPr sz="1050" b="1" dirty="0">
                <a:solidFill>
                  <a:srgbClr val="0078D4"/>
                </a:solidFill>
                <a:latin typeface="Segoe UI"/>
              </a:rPr>
              <a:t>FOUNDRY ACCOUNT</a:t>
            </a:r>
            <a:r>
              <a:rPr sz="1050" b="0" dirty="0">
                <a:solidFill>
                  <a:srgbClr val="605E5C"/>
                </a:solidFill>
                <a:latin typeface="Segoe UI"/>
              </a:rPr>
              <a:t>  · </a:t>
            </a:r>
            <a:r>
              <a:rPr lang="en-US" sz="1050" dirty="0">
                <a:solidFill>
                  <a:srgbClr val="605E5C"/>
                </a:solidFill>
                <a:latin typeface="Segoe UI"/>
              </a:rPr>
              <a:t>West Europe </a:t>
            </a:r>
          </a:p>
          <a:p>
            <a:pPr>
              <a:spcAft>
                <a:spcPts val="100"/>
              </a:spcAft>
            </a:pPr>
            <a:r>
              <a:rPr sz="1250" b="1" dirty="0" err="1">
                <a:solidFill>
                  <a:srgbClr val="243A5E"/>
                </a:solidFill>
                <a:latin typeface="Segoe UI"/>
              </a:rPr>
              <a:t>aif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sz="1250" b="1" dirty="0" err="1">
                <a:solidFill>
                  <a:srgbClr val="243A5E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</a:t>
            </a:r>
            <a:r>
              <a:rPr lang="en-US" sz="1250" b="1" dirty="0" err="1">
                <a:solidFill>
                  <a:srgbClr val="243A5E"/>
                </a:solidFill>
                <a:latin typeface="Segoe UI"/>
              </a:rPr>
              <a:t>weu</a:t>
            </a:r>
            <a:r>
              <a:rPr sz="1250" b="1" dirty="0">
                <a:solidFill>
                  <a:srgbClr val="243A5E"/>
                </a:solidFill>
                <a:latin typeface="Segoe UI"/>
              </a:rPr>
              <a:t>-prod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767328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00" b="1">
                <a:solidFill>
                  <a:srgbClr val="107C10"/>
                </a:solidFill>
                <a:latin typeface="Segoe UI"/>
              </a:rPr>
              <a:t>PROJECTS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04164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53128" y="409651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chatbot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454456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53128" y="459943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doc-search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047488"/>
            <a:ext cx="2788920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53128" y="5102351"/>
            <a:ext cx="2606040" cy="310896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150" b="1">
                <a:solidFill>
                  <a:srgbClr val="243A5E"/>
                </a:solidFill>
                <a:latin typeface="Segoe UI"/>
              </a:rPr>
              <a:t>forecast-api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5559551"/>
            <a:ext cx="2788920" cy="256032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950" b="0">
                <a:solidFill>
                  <a:srgbClr val="605E5C"/>
                </a:solidFill>
                <a:latin typeface="Segoe UI"/>
              </a:rPr>
              <a:t>+ more projects…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2331720"/>
            <a:ext cx="3730752" cy="3931920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20" y="2468880"/>
            <a:ext cx="3273552" cy="329184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/>
            <a:r>
              <a:rPr sz="1250" b="1">
                <a:solidFill>
                  <a:srgbClr val="243A5E"/>
                </a:solidFill>
                <a:latin typeface="Segoe UI"/>
              </a:rPr>
              <a:t>BY THE NUMBERS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07792"/>
            <a:ext cx="3273552" cy="224028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3</a:t>
            </a:r>
            <a:r>
              <a:rPr sz="1300" b="1">
                <a:solidFill>
                  <a:srgbClr val="243A5E"/>
                </a:solidFill>
                <a:latin typeface="Segoe UI"/>
              </a:rPr>
              <a:t>  environments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dev · test · prod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teams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TeamA · TeamB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6</a:t>
            </a:r>
            <a:r>
              <a:rPr sz="1300" b="1">
                <a:solidFill>
                  <a:srgbClr val="243A5E"/>
                </a:solidFill>
                <a:latin typeface="Segoe UI"/>
              </a:rPr>
              <a:t>  subscriptions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2</a:t>
            </a:r>
            <a:r>
              <a:rPr sz="1300" b="1">
                <a:solidFill>
                  <a:srgbClr val="243A5E"/>
                </a:solidFill>
                <a:latin typeface="Segoe UI"/>
              </a:rPr>
              <a:t>  regions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West Europe · East US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07C10"/>
                </a:solidFill>
                <a:latin typeface="Segoe UI"/>
              </a:rPr>
              <a:t>= 12</a:t>
            </a:r>
            <a:r>
              <a:rPr sz="1300" b="1">
                <a:solidFill>
                  <a:srgbClr val="243A5E"/>
                </a:solidFill>
                <a:latin typeface="Segoe UI"/>
              </a:rPr>
              <a:t>  Foundry accounts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× N</a:t>
            </a:r>
            <a:r>
              <a:rPr sz="1300" b="1">
                <a:solidFill>
                  <a:srgbClr val="243A5E"/>
                </a:solidFill>
                <a:latin typeface="Segoe UI"/>
              </a:rPr>
              <a:t>  projects each</a:t>
            </a:r>
            <a:r>
              <a:rPr sz="1000" b="0">
                <a:solidFill>
                  <a:srgbClr val="605E5C"/>
                </a:solidFill>
                <a:latin typeface="Segoe UI"/>
              </a:rPr>
              <a:t>    chatbot, doc-search…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5440680"/>
            <a:ext cx="3273552" cy="77724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A5E"/>
                </a:solidFill>
                <a:latin typeface="Segoe UI"/>
              </a:rPr>
              <a:t>Exactly Gislefoss’s account→project model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— one Bicep, stamped per (env × region × team). Each project holds its own agents, models &amp; connections.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77414-B4EC-5E7E-2E62-63FC6EAEA8E1}"/>
              </a:ext>
            </a:extLst>
          </p:cNvPr>
          <p:cNvSpPr txBox="1"/>
          <p:nvPr/>
        </p:nvSpPr>
        <p:spPr>
          <a:xfrm>
            <a:off x="4256532" y="2375499"/>
            <a:ext cx="2999232" cy="553998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SUBSCRIPTION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   ·  sub-</a:t>
            </a:r>
            <a:r>
              <a:rPr sz="1250" b="1" dirty="0" err="1">
                <a:solidFill>
                  <a:srgbClr val="0078D4"/>
                </a:solidFill>
                <a:latin typeface="Segoe UI"/>
              </a:rPr>
              <a:t>team</a:t>
            </a:r>
            <a:r>
              <a:rPr lang="en-US" sz="1250" b="1" dirty="0" err="1">
                <a:solidFill>
                  <a:srgbClr val="0078D4"/>
                </a:solidFill>
                <a:latin typeface="Segoe UI"/>
              </a:rPr>
              <a:t>B</a:t>
            </a:r>
            <a:r>
              <a:rPr sz="1250" b="1" dirty="0">
                <a:solidFill>
                  <a:srgbClr val="0078D4"/>
                </a:solidFill>
                <a:latin typeface="Segoe UI"/>
              </a:rPr>
              <a:t>-prod</a:t>
            </a:r>
          </a:p>
          <a:p>
            <a:pPr algn="l">
              <a:spcAft>
                <a:spcPts val="100"/>
              </a:spcAft>
            </a:pPr>
            <a:r>
              <a:rPr sz="1050" b="0" dirty="0">
                <a:solidFill>
                  <a:srgbClr val="605E5C"/>
                </a:solidFill>
                <a:latin typeface="Segoe UI"/>
              </a:rPr>
              <a:t>one per team × environment — isolates quota, billing &amp; policy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b="1" dirty="0">
                <a:solidFill>
                  <a:srgbClr val="243A5E"/>
                </a:solidFill>
                <a:latin typeface="Segoe UI"/>
              </a:rPr>
              <a:t>Prompt agent: 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0078D4"/>
                </a:solidFill>
                <a:latin typeface="Consolas"/>
              </a:rPr>
              <a:t>personas/</a:t>
            </a:r>
            <a:r>
              <a:rPr lang="nb-NO" sz="1500" b="1" dirty="0" err="1">
                <a:solidFill>
                  <a:srgbClr val="0078D4"/>
                </a:solidFill>
                <a:latin typeface="Consolas"/>
              </a:rPr>
              <a:t>myagent</a:t>
            </a:r>
            <a:r>
              <a:rPr sz="1500" b="1" dirty="0">
                <a:solidFill>
                  <a:srgbClr val="0078D4"/>
                </a:solidFill>
                <a:latin typeface="Consolas"/>
              </a:rPr>
              <a:t>.md</a:t>
            </a:r>
            <a:r>
              <a:rPr sz="1500" b="0" dirty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in or out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78D4"/>
                </a:solidFill>
                <a:latin typeface="Segoe UI"/>
              </a:rPr>
              <a:t>GUARDRAIL · CUSTOM PII BLOCKLIST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43A5E"/>
                </a:solidFill>
                <a:latin typeface="Segoe UI"/>
              </a:rPr>
              <a:t>Custom blocklist — PII patterns the Guardrail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80160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12220"/>
            <a:ext cx="106984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dirty="0">
                <a:solidFill>
                  <a:srgbClr val="0078D4"/>
                </a:solidFill>
                <a:latin typeface="Segoe UI"/>
              </a:rPr>
              <a:t>What it is —</a:t>
            </a:r>
            <a:r>
              <a:rPr lang="nb-NO" sz="1350" b="1" dirty="0">
                <a:solidFill>
                  <a:srgbClr val="0078D4"/>
                </a:solidFill>
                <a:latin typeface="Segoe UI"/>
              </a:rPr>
              <a:t> </a:t>
            </a:r>
            <a:r>
              <a:rPr sz="1350" b="0" dirty="0">
                <a:solidFill>
                  <a:srgbClr val="201F1E"/>
                </a:solidFill>
                <a:latin typeface="Segoe UI"/>
              </a:rPr>
              <a:t>a custom blocklist asks </a:t>
            </a:r>
            <a:r>
              <a:rPr sz="1350" b="1" dirty="0">
                <a:solidFill>
                  <a:srgbClr val="201F1E"/>
                </a:solidFill>
                <a:latin typeface="Segoe UI"/>
              </a:rPr>
              <a:t>“does this match a forbidden pattern?”</a:t>
            </a:r>
            <a:r>
              <a:rPr sz="1350" b="0" dirty="0">
                <a:solidFill>
                  <a:srgbClr val="201F1E"/>
                </a:solidFill>
                <a:latin typeface="Segoe UI"/>
              </a:rPr>
              <a:t> — it blocks </a:t>
            </a:r>
            <a:r>
              <a:rPr lang="nb-NO" sz="1350" b="1" dirty="0" err="1">
                <a:solidFill>
                  <a:srgbClr val="201F1E"/>
                </a:solidFill>
                <a:latin typeface="Segoe UI"/>
              </a:rPr>
              <a:t>Personally</a:t>
            </a:r>
            <a:r>
              <a:rPr lang="nb-NO" sz="1350" b="1" dirty="0">
                <a:solidFill>
                  <a:srgbClr val="201F1E"/>
                </a:solidFill>
                <a:latin typeface="Segoe UI"/>
              </a:rPr>
              <a:t> </a:t>
            </a:r>
            <a:r>
              <a:rPr lang="nb-NO" sz="1350" b="1" dirty="0" err="1">
                <a:solidFill>
                  <a:srgbClr val="201F1E"/>
                </a:solidFill>
                <a:latin typeface="Segoe UI"/>
              </a:rPr>
              <a:t>Identifiable</a:t>
            </a:r>
            <a:r>
              <a:rPr lang="nb-NO" sz="1350" b="1" dirty="0">
                <a:solidFill>
                  <a:srgbClr val="201F1E"/>
                </a:solidFill>
                <a:latin typeface="Segoe UI"/>
              </a:rPr>
              <a:t> Information</a:t>
            </a:r>
            <a:r>
              <a:rPr lang="nb-NO" sz="1350" b="0" dirty="0">
                <a:solidFill>
                  <a:srgbClr val="201F1E"/>
                </a:solidFill>
                <a:latin typeface="Segoe UI"/>
              </a:rPr>
              <a:t> (</a:t>
            </a:r>
            <a:r>
              <a:rPr sz="1350" b="0" dirty="0">
                <a:solidFill>
                  <a:srgbClr val="201F1E"/>
                </a:solidFill>
                <a:latin typeface="Segoe UI"/>
              </a:rPr>
              <a:t>PII</a:t>
            </a:r>
            <a:r>
              <a:rPr lang="nb-NO" sz="1350" dirty="0">
                <a:solidFill>
                  <a:srgbClr val="201F1E"/>
                </a:solidFill>
                <a:latin typeface="Segoe UI"/>
              </a:rPr>
              <a:t>)</a:t>
            </a:r>
            <a:r>
              <a:rPr sz="1350" b="0" dirty="0">
                <a:solidFill>
                  <a:srgbClr val="201F1E"/>
                </a:solidFill>
                <a:latin typeface="Segoe UI"/>
              </a:rPr>
              <a:t>, secrets or names the built-in categories.</a:t>
            </a:r>
            <a:r>
              <a:rPr lang="nb-NO" sz="1350" b="0" dirty="0">
                <a:solidFill>
                  <a:srgbClr val="201F1E"/>
                </a:solidFill>
                <a:latin typeface="Segoe UI"/>
              </a:rPr>
              <a:t> </a:t>
            </a:r>
          </a:p>
          <a:p>
            <a:pPr algn="l"/>
            <a:r>
              <a:rPr lang="en-US" sz="1350" b="1" dirty="0">
                <a:solidFill>
                  <a:schemeClr val="tx2">
                    <a:lumMod val="60000"/>
                    <a:lumOff val="40000"/>
                  </a:schemeClr>
                </a:solidFill>
                <a:latin typeface="Segoe UI"/>
              </a:rPr>
              <a:t>How it works - </a:t>
            </a:r>
            <a:r>
              <a:rPr lang="en-US" sz="1350" dirty="0">
                <a:solidFill>
                  <a:srgbClr val="201F1E"/>
                </a:solidFill>
                <a:latin typeface="Segoe UI"/>
              </a:rPr>
              <a:t>When a user pastes their email into a question, the call gets rejected (HTTP 400) before that PII reaches the model or gets stored.</a:t>
            </a:r>
            <a:endParaRPr sz="1350" b="0" dirty="0">
              <a:solidFill>
                <a:srgbClr val="201F1E"/>
              </a:solidFill>
              <a:latin typeface="Segoe U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331720"/>
          <a:ext cx="1069848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Blocklist item</a:t>
                      </a:r>
                    </a:p>
                  </a:txBody>
                  <a:tcPr marR="73152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What it catches</a:t>
                      </a:r>
                    </a:p>
                  </a:txBody>
                  <a:tcPr marR="73152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Regex  ·  isRegex=true, unanchored</a:t>
                      </a:r>
                    </a:p>
                  </a:txBody>
                  <a:tcPr marR="73152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43A5E"/>
                          </a:solidFill>
                          <a:latin typeface="Consolas"/>
                        </a:rPr>
                        <a:t>email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E-mail addresses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A1F11"/>
                          </a:solidFill>
                          <a:latin typeface="Consolas"/>
                        </a:rPr>
                        <a:t>[A-Za-z0-9._%+-]+@[A-Za-z0-9.-]+\.[A-Za-z]{2,}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43A5E"/>
                          </a:solidFill>
                          <a:latin typeface="Consolas"/>
                        </a:rPr>
                        <a:t>us-ssn</a:t>
                      </a:r>
                    </a:p>
                  </a:txBody>
                  <a:tcPr marR="73152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US Social-Security numbers</a:t>
                      </a:r>
                    </a:p>
                  </a:txBody>
                  <a:tcPr marR="73152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A1F11"/>
                          </a:solidFill>
                          <a:latin typeface="Consolas"/>
                        </a:rPr>
                        <a:t>\b\d{3}-\d{2}-\d{4}\b</a:t>
                      </a:r>
                    </a:p>
                  </a:txBody>
                  <a:tcPr marR="73152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43A5E"/>
                          </a:solidFill>
                          <a:latin typeface="Consolas"/>
                        </a:rPr>
                        <a:t>credit-card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16-digit payment-card numbers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A1F11"/>
                          </a:solidFill>
                          <a:latin typeface="Consolas"/>
                        </a:rPr>
                        <a:t>\b\d{4}[- ]?\d{4}[- ]?\d{4}[- ]?\d{4}\b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43A5E"/>
                          </a:solidFill>
                          <a:latin typeface="Consolas"/>
                        </a:rPr>
                        <a:t>us-phone</a:t>
                      </a:r>
                    </a:p>
                  </a:txBody>
                  <a:tcPr marR="73152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US phone numbers</a:t>
                      </a:r>
                    </a:p>
                  </a:txBody>
                  <a:tcPr marR="73152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A1F11"/>
                          </a:solidFill>
                          <a:latin typeface="Consolas"/>
                        </a:rPr>
                        <a:t>\b\d{3}[-.]?\d{3}[-.]?\d{4}\b</a:t>
                      </a:r>
                    </a:p>
                  </a:txBody>
                  <a:tcPr marR="73152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43A5E"/>
                          </a:solidFill>
                          <a:latin typeface="Consolas"/>
                        </a:rPr>
                        <a:t>ipv4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IPv4 addresses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A1F11"/>
                          </a:solidFill>
                          <a:latin typeface="Consolas"/>
                        </a:rPr>
                        <a:t>\b\d{1,3}\.\d{1,3}\.\d{1,3}\.\d{1,3}\b</a:t>
                      </a:r>
                    </a:p>
                  </a:txBody>
                  <a:tcPr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41324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05E5C"/>
                </a:solidFill>
                <a:latin typeface="Segoe UI"/>
              </a:rPr>
              <a:t>Regex shown as compiled — Bicep doubles each backslash (\\d → \d). Demo-grade: illustrative, not production-strength PII detection.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7424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05E5C"/>
                </a:solidFill>
                <a:latin typeface="Segoe UI"/>
              </a:rPr>
              <a:t>Unanchored — fires on PII embedded anywhere, in input and output alike. A hit returns HTTP 400 content_filter (custom_blocklists[].filtered=true). Gated by deployBlocklist, layered on top of the built-in harm + Prompt-Shield filters.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    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]</a:t>
            </a:r>
            <a:endParaRPr lang="nb-NO" sz="1250" dirty="0">
              <a:solidFill>
                <a:srgbClr val="D4D4D4"/>
              </a:solidFill>
              <a:latin typeface="Consolas"/>
            </a:endParaRPr>
          </a:p>
          <a:p>
            <a:r>
              <a:rPr lang="ru-RU" sz="125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</a:rPr>
              <a:t>    // Custom PII blocklist     </a:t>
            </a:r>
            <a:endParaRPr lang="nb-NO" sz="1250" dirty="0">
              <a:solidFill>
                <a:schemeClr val="tx2">
                  <a:lumMod val="60000"/>
                  <a:lumOff val="40000"/>
                </a:schemeClr>
              </a:solidFill>
              <a:latin typeface="Consolas"/>
            </a:endParaRPr>
          </a:p>
          <a:p>
            <a:r>
              <a:rPr lang="nb-NO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   </a:t>
            </a:r>
            <a:r>
              <a:rPr lang="ru-RU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customBlocklists: deployBlocklist ? [</a:t>
            </a:r>
          </a:p>
          <a:p>
            <a:pPr>
              <a:lnSpc>
                <a:spcPts val="1425"/>
              </a:lnSpc>
              <a:buNone/>
            </a:pPr>
            <a:r>
              <a:rPr lang="ru-RU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      { blocklistName: blocklistName, blocking: true, source: 'Prompt’ }</a:t>
            </a:r>
            <a:r>
              <a:rPr lang="nb-NO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      // </a:t>
            </a:r>
            <a:r>
              <a:rPr lang="ru-RU" sz="125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</a:rPr>
              <a:t>PII blocklist</a:t>
            </a:r>
            <a:r>
              <a:rPr lang="nb-NO" sz="125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</a:rPr>
              <a:t> prompt</a:t>
            </a:r>
            <a:endParaRPr lang="ru-RU" sz="1250" dirty="0">
              <a:solidFill>
                <a:schemeClr val="tx2">
                  <a:lumMod val="60000"/>
                  <a:lumOff val="40000"/>
                </a:schemeClr>
              </a:solidFill>
              <a:latin typeface="Consolas"/>
            </a:endParaRPr>
          </a:p>
          <a:p>
            <a:r>
              <a:rPr lang="ru-RU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      { blocklistName: blocklistName, blocking: true, source: 'Completion’ }</a:t>
            </a:r>
            <a:r>
              <a:rPr lang="nb-NO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  // </a:t>
            </a:r>
            <a:r>
              <a:rPr lang="ru-RU" sz="125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</a:rPr>
              <a:t>PII blocklist</a:t>
            </a:r>
            <a:r>
              <a:rPr lang="nb-NO" sz="125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</a:rPr>
              <a:t> </a:t>
            </a:r>
            <a:r>
              <a:rPr lang="nb-NO" sz="125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nsolas"/>
              </a:rPr>
              <a:t>completion</a:t>
            </a:r>
            <a:endParaRPr lang="ru-RU" sz="1250" dirty="0">
              <a:solidFill>
                <a:schemeClr val="tx2">
                  <a:lumMod val="60000"/>
                  <a:lumOff val="40000"/>
                </a:schemeClr>
              </a:solidFill>
              <a:latin typeface="Consolas"/>
            </a:endParaRPr>
          </a:p>
          <a:p>
            <a:r>
              <a:rPr lang="ru-RU" sz="125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onsolas"/>
              </a:rPr>
              <a:t>    ] : []</a:t>
            </a:r>
            <a:endParaRPr sz="1250" b="1" dirty="0">
              <a:solidFill>
                <a:schemeClr val="tx2">
                  <a:lumMod val="40000"/>
                  <a:lumOff val="60000"/>
                </a:schemeClr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MEMORY FROM EXTERNAL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Use the memory store from your own host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The store is a project data-plane service — reachable from a Web App, Container App or AKS over REST/SDK with Entra auth.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AI FOUNDRY  ·  security, features and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EXTERNAL AGENTS · ANY HOST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Web App, Container App or AKS.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The memory store is a project data-plane resource, decoupled from where the agent runs. Call it over REST/SDK with a Microsoft Entra token (Foundry User role) — from AKS, via workload identity.</a:t>
            </a:r>
          </a:p>
        </p:txBody>
      </p:sp>
      <p:sp>
        <p:nvSpPr>
          <p:cNvPr id="11" name="Rounded Rectangle 8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9"/>
          <p:cNvSpPr txBox="1"/>
          <p:nvPr/>
        </p:nvSpPr>
        <p:spPr>
          <a:xfrm>
            <a:off x="6519672" y="240487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TWO WAYS TO CALL IT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Search tool, or low-level APIs.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Attach the memory_search tool to a Foundry prompt agent (auto extract + retrieve via the Responses API), or drive the store yourself: update_memories / search_memories / item CRUD, passing scope on every call.</a:t>
            </a:r>
          </a:p>
        </p:txBody>
      </p:sp>
      <p:sp>
        <p:nvSpPr>
          <p:cNvPr id="13" name="Rounded Rectangle 8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9"/>
          <p:cNvSpPr txBox="1"/>
          <p:nvPr/>
        </p:nvSpPr>
        <p:spPr>
          <a:xfrm>
            <a:off x="1033271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LIMITATIONS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Public endpoint, explicit scope.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No VNet / Private Link for memory stores — public data-plane only. Low-level calls need an explicit scope (no identity auto-resolution). Preview: some store options are create-time only; poisoning defense is yours.</a:t>
            </a:r>
          </a:p>
        </p:txBody>
      </p:sp>
      <p:sp>
        <p:nvSpPr>
          <p:cNvPr id="15" name="Rounded Rectangle 8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9"/>
          <p:cNvSpPr txBox="1"/>
          <p:nvPr/>
        </p:nvSpPr>
        <p:spPr>
          <a:xfrm>
            <a:off x="6519672" y="4279392"/>
            <a:ext cx="4608576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QUOTAS · MODEL 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Per store; bring your own models.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100 scopes / store · 10,000 memories / scope · 1,000 search/min · 1,000 update/min. Requires compatible Azure OpenAI chat + embedding deployments in the project — you pay for that usage.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Gislefoss's memory.bicep store is reachable from a Web App, Container App or AKS pod via the low-level APIs.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78D4"/>
                </a:solidFill>
                <a:latin typeface="Segoe UI"/>
              </a:rPr>
              <a:t>AGENT HOSTING · MANAGED vs. SELF-HOSTED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43A5E"/>
                </a:solidFill>
                <a:latin typeface="Segoe UI"/>
              </a:rPr>
              <a:t>Hosted agent vs. agent in a Container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36393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109728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Foundry hosted agent</a:t>
                      </a:r>
                    </a:p>
                  </a:txBody>
                  <a:tcPr marL="109728" marR="109728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Agent in a Container App</a:t>
                      </a:r>
                    </a:p>
                  </a:txBody>
                  <a:tcPr marL="109728" marR="109728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Who operates it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Foundry — managed runtime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 — your ACA environment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Identity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Dedicated Entra identity, auto-created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 provision &amp; RBAC a managed identity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Server &amp; protocol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Library handles HTTP, SSE, health, lifecycle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 build &amp; own the web server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State &amp; sessions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Per-session sandbox, $HOME persisted, scale-to-zero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You design session storage &amp; resume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Container registry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Must stay public (no private-endpoint ACR)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Private ACR / full VNet control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Compute &amp; maturity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01F1E"/>
                          </a:solidFill>
                          <a:latin typeface="Segoe UI"/>
                        </a:rPr>
                        <a:t>Fixed 0.5/1/2 vCPU · preview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>
                          <a:solidFill>
                            <a:srgbClr val="201F1E"/>
                          </a:solidFill>
                          <a:latin typeface="Segoe UI"/>
                        </a:rPr>
                        <a:t>Any size/replicas · GA + SLA</a:t>
                      </a:r>
                    </a:p>
                  </a:txBody>
                  <a:tcPr marL="109728" marR="109728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5197</Words>
  <Application>Microsoft Office PowerPoint</Application>
  <PresentationFormat>Widescreen</PresentationFormat>
  <Paragraphs>700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40</cp:revision>
  <dcterms:created xsi:type="dcterms:W3CDTF">2013-01-27T09:14:16Z</dcterms:created>
  <dcterms:modified xsi:type="dcterms:W3CDTF">2026-06-22T21:12:19Z</dcterms:modified>
  <cp:category/>
</cp:coreProperties>
</file>