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6" r:id="rId5"/>
    <p:sldId id="277" r:id="rId6"/>
    <p:sldId id="260" r:id="rId7"/>
    <p:sldId id="264" r:id="rId8"/>
    <p:sldId id="269" r:id="rId9"/>
    <p:sldId id="262" r:id="rId10"/>
    <p:sldId id="263" r:id="rId11"/>
    <p:sldId id="259" r:id="rId12"/>
    <p:sldId id="261" r:id="rId13"/>
    <p:sldId id="268" r:id="rId14"/>
    <p:sldId id="271" r:id="rId15"/>
    <p:sldId id="272" r:id="rId16"/>
    <p:sldId id="270" r:id="rId17"/>
    <p:sldId id="265" r:id="rId18"/>
    <p:sldId id="266" r:id="rId19"/>
    <p:sldId id="267" r:id="rId20"/>
    <p:sldId id="274" r:id="rId21"/>
    <p:sldId id="275" r:id="rId22"/>
    <p:sldId id="27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65" d="100"/>
          <a:sy n="165" d="100"/>
        </p:scale>
        <p:origin x="100" y="4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AZURE AI FOUNDRY · LAYERED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10058400" cy="21945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8AB9E8"/>
                </a:solidFill>
                <a:latin typeface="Segoe UI"/>
              </a:rPr>
              <a:t>vs.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60120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How the two layers protect the Gislefoss Meteorologist agent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and why a shield is one detector </a:t>
            </a:r>
            <a:r>
              <a:rPr sz="1800" b="1">
                <a:solidFill>
                  <a:srgbClr val="FFFFFF"/>
                </a:solidFill>
                <a:latin typeface="Segoe UI"/>
              </a:rPr>
              <a:t>inside</a:t>
            </a:r>
            <a:r>
              <a:rPr sz="1800" b="0">
                <a:solidFill>
                  <a:srgbClr val="C7D6EA"/>
                </a:solidFill>
                <a:latin typeface="Segoe UI"/>
              </a:rPr>
              <a:t> the guardrail, not a sibling of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>
                <a:solidFill>
                  <a:srgbClr val="0078D4"/>
                </a:solidFill>
                <a:latin typeface="Consolas"/>
              </a:rPr>
              <a:t>aif-gislefoss-prod</a:t>
            </a:r>
            <a:r>
              <a:rPr sz="1500" b="0">
                <a:solidFill>
                  <a:srgbClr val="605E5C"/>
                </a:solidFill>
                <a:latin typeface="Segoe UI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aif-gislefoss-prod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proj-gislefoss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oai-gislefoss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srch-gislefoss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cs-gislefoss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hub-gislefoss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…-caphost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IDENTITY &amp; ACCESS · LEAST PRIVILEGE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Foundry RBAC — roles &amp;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Assign at the </a:t>
            </a:r>
            <a:r>
              <a:rPr sz="1500" b="1">
                <a:solidFill>
                  <a:srgbClr val="243A5E"/>
                </a:solidFill>
                <a:latin typeface="Segoe UI"/>
              </a:rPr>
              <a:t>Foundry resource scope</a:t>
            </a:r>
            <a:r>
              <a:rPr sz="1500" b="0">
                <a:solidFill>
                  <a:srgbClr val="605E5C"/>
                </a:solidFill>
                <a:latin typeface="Segoe UI"/>
              </a:rPr>
              <a:t>.  Separate the identity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authors</a:t>
            </a:r>
            <a:r>
              <a:rPr sz="1500" b="0">
                <a:solidFill>
                  <a:srgbClr val="605E5C"/>
                </a:solidFill>
                <a:latin typeface="Segoe UI"/>
              </a:rPr>
              <a:t> the agent from the one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runs</a:t>
            </a:r>
            <a:r>
              <a:rPr sz="1500" b="0">
                <a:solidFill>
                  <a:srgbClr val="605E5C"/>
                </a:solidFill>
                <a:latin typeface="Segoe UI"/>
              </a:rPr>
              <a:t>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11680"/>
          <a:ext cx="106070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grants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Inference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Create / manage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Least-privilege build &amp; use (data actions)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projects + publish agents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account, deploy models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Full self-serve — build + manage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4498848"/>
            <a:ext cx="10607040" cy="1810512"/>
          </a:xfrm>
          <a:prstGeom prst="roundRect">
            <a:avLst>
              <a:gd name="adj" fmla="val 4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572000"/>
            <a:ext cx="10149840" cy="16642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Gislefoss split RBAC — author ≠ runtime: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Provisioner identity (UAMI) authors &amp; publishes the agent  →  </a:t>
            </a:r>
            <a:r>
              <a:rPr sz="1300" b="1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sz="1300" b="1">
                <a:solidFill>
                  <a:srgbClr val="0078D4"/>
                </a:solidFill>
                <a:latin typeface="Segoe UI"/>
              </a:rPr>
              <a:t>Foundry User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5292A"/>
                </a:solidFill>
                <a:latin typeface="Segoe UI"/>
              </a:rPr>
              <a:t>⚠  Bicep today grants Azure AI Developer + Cognitive Services User — Microsoft now scopes those away from Foundry agents; migrate to the roles above.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05E5C"/>
                </a:solidFill>
                <a:latin typeface="Consolas"/>
              </a:rPr>
              <a:t>Role IDs:  Foundry Project Manager eadc314b-1a2d-4efa-be10-5d325db5065e  ·  Foundry User 53ca6127-db72-4b80-b1b0-d745d6d5456d.  Renamed Jun 2026 (ex Azure AI Project Manager / Azure AI User).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7D6EA"/>
                </a:solidFill>
                <a:latin typeface="Segoe UI"/>
              </a:rPr>
              <a:t>Gislefoss runs gpt-4o as </a:t>
            </a:r>
            <a:r>
              <a:rPr sz="1200" b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Gislefoss today: a prototype on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Consolas"/>
              </a:rPr>
              <a:t>personas/gislefoss.md</a:t>
            </a:r>
            <a:r>
              <a:rPr sz="1500" b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Caveats &amp; deploy-verify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 names are unverified: </a:t>
            </a:r>
            <a:r>
              <a:rPr sz="1700" b="0">
                <a:solidFill>
                  <a:srgbClr val="201F1E"/>
                </a:solidFill>
                <a:latin typeface="Segoe UI"/>
              </a:rPr>
              <a:t>'Jailbreak' and 'Indirect Attack' carry // [verify name] markers.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Confirm the exact RAI filter strings against the live API on first real deploy.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Guardrail is attached, not optional: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rides on the chat deployment via raiPolicyName.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Shields are input-side: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they won't catch a harmful COMPLETION — that's the harm filters' job.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Defence in depth: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 persona/system prompt is a third layer above both — not a substitute.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Three things to remember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49631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Containment, not rivalry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A Prompt Shield is one detector inside the guardrail (RAI policy) — not a competing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6616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61188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Content vs. intent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Guardrail harm filters catch toxic CONTENT; shields catch adversarial INTENT (hijacking).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14807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3776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Both, platform-side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The Meteorologist needs both, and in Gislefoss they live in foundry.bicep — not in app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3093</Words>
  <Application>Microsoft Office PowerPoint</Application>
  <PresentationFormat>Widescreen</PresentationFormat>
  <Paragraphs>411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8</cp:revision>
  <dcterms:created xsi:type="dcterms:W3CDTF">2013-01-27T09:14:16Z</dcterms:created>
  <dcterms:modified xsi:type="dcterms:W3CDTF">2026-06-16T09:16:34Z</dcterms:modified>
  <cp:category/>
</cp:coreProperties>
</file>